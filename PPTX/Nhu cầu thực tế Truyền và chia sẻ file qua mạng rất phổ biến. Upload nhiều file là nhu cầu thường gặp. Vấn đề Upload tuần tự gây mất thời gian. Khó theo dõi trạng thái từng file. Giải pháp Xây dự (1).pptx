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9" r:id="rId17"/>
  </p:sldIdLst>
  <p:sldSz cx="18288000" cy="10287000"/>
  <p:notesSz cx="6858000" cy="9144000"/>
  <p:embeddedFontLst>
    <p:embeddedFont>
      <p:font typeface="Open Sauce" panose="020B0604020202020204" charset="0"/>
      <p:regular r:id="rId18"/>
    </p:embeddedFont>
    <p:embeddedFont>
      <p:font typeface="Open Sauce Bold" panose="020B0604020202020204" charset="0"/>
      <p:regular r:id="rId19"/>
    </p:embeddedFont>
    <p:embeddedFont>
      <p:font typeface="RQND Pro UltraWide" panose="020B0604020202020204" charset="0"/>
      <p:regular r:id="rId20"/>
    </p:embeddedFont>
    <p:embeddedFont>
      <p:font typeface="Times New Roman Bold" panose="020208030705050203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5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4.jpe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7.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28.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6.png"/><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14.jpe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231347" y="4102202"/>
            <a:ext cx="5524882" cy="2082597"/>
          </a:xfrm>
          <a:custGeom>
            <a:avLst/>
            <a:gdLst/>
            <a:ahLst/>
            <a:cxnLst/>
            <a:rect l="l" t="t" r="r" b="b"/>
            <a:pathLst>
              <a:path w="5524882" h="2082597">
                <a:moveTo>
                  <a:pt x="0" y="0"/>
                </a:moveTo>
                <a:lnTo>
                  <a:pt x="5524882" y="0"/>
                </a:lnTo>
                <a:lnTo>
                  <a:pt x="5524882" y="2082596"/>
                </a:lnTo>
                <a:lnTo>
                  <a:pt x="0" y="2082596"/>
                </a:lnTo>
                <a:lnTo>
                  <a:pt x="0" y="0"/>
                </a:lnTo>
                <a:close/>
              </a:path>
            </a:pathLst>
          </a:custGeom>
          <a:blipFill>
            <a:blip r:embed="rId3">
              <a:extLst>
                <a:ext uri="{96DAC541-7B7A-43D3-8B79-37D633B846F1}">
                  <asvg:svgBlip xmlns:asvg="http://schemas.microsoft.com/office/drawing/2016/SVG/main" r:embed="rId4"/>
                </a:ext>
              </a:extLst>
            </a:blip>
            <a:stretch>
              <a:fillRect t="-165288"/>
            </a:stretch>
          </a:blipFill>
        </p:spPr>
      </p:sp>
      <p:sp>
        <p:nvSpPr>
          <p:cNvPr id="4" name="Freeform 4"/>
          <p:cNvSpPr/>
          <p:nvPr/>
        </p:nvSpPr>
        <p:spPr>
          <a:xfrm flipH="1">
            <a:off x="12994465" y="4102202"/>
            <a:ext cx="5524882" cy="2082597"/>
          </a:xfrm>
          <a:custGeom>
            <a:avLst/>
            <a:gdLst/>
            <a:ahLst/>
            <a:cxnLst/>
            <a:rect l="l" t="t" r="r" b="b"/>
            <a:pathLst>
              <a:path w="5524882" h="2082597">
                <a:moveTo>
                  <a:pt x="5524882" y="0"/>
                </a:moveTo>
                <a:lnTo>
                  <a:pt x="0" y="0"/>
                </a:lnTo>
                <a:lnTo>
                  <a:pt x="0" y="2082596"/>
                </a:lnTo>
                <a:lnTo>
                  <a:pt x="5524882" y="2082596"/>
                </a:lnTo>
                <a:lnTo>
                  <a:pt x="5524882" y="0"/>
                </a:lnTo>
                <a:close/>
              </a:path>
            </a:pathLst>
          </a:custGeom>
          <a:blipFill>
            <a:blip r:embed="rId3">
              <a:extLst>
                <a:ext uri="{96DAC541-7B7A-43D3-8B79-37D633B846F1}">
                  <asvg:svgBlip xmlns:asvg="http://schemas.microsoft.com/office/drawing/2016/SVG/main" r:embed="rId4"/>
                </a:ext>
              </a:extLst>
            </a:blip>
            <a:stretch>
              <a:fillRect t="-165288"/>
            </a:stretch>
          </a:blipFill>
        </p:spPr>
      </p:sp>
      <p:sp>
        <p:nvSpPr>
          <p:cNvPr id="5" name="Freeform 5"/>
          <p:cNvSpPr/>
          <p:nvPr/>
        </p:nvSpPr>
        <p:spPr>
          <a:xfrm>
            <a:off x="1028700" y="8820518"/>
            <a:ext cx="3657600" cy="437782"/>
          </a:xfrm>
          <a:custGeom>
            <a:avLst/>
            <a:gdLst/>
            <a:ahLst/>
            <a:cxnLst/>
            <a:rect l="l" t="t" r="r" b="b"/>
            <a:pathLst>
              <a:path w="3657600" h="437782">
                <a:moveTo>
                  <a:pt x="0" y="0"/>
                </a:moveTo>
                <a:lnTo>
                  <a:pt x="3657600" y="0"/>
                </a:lnTo>
                <a:lnTo>
                  <a:pt x="3657600" y="437782"/>
                </a:lnTo>
                <a:lnTo>
                  <a:pt x="0" y="4377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3601700" y="8820518"/>
            <a:ext cx="3657600" cy="437782"/>
          </a:xfrm>
          <a:custGeom>
            <a:avLst/>
            <a:gdLst/>
            <a:ahLst/>
            <a:cxnLst/>
            <a:rect l="l" t="t" r="r" b="b"/>
            <a:pathLst>
              <a:path w="3657600" h="437782">
                <a:moveTo>
                  <a:pt x="3657600" y="0"/>
                </a:moveTo>
                <a:lnTo>
                  <a:pt x="0" y="0"/>
                </a:lnTo>
                <a:lnTo>
                  <a:pt x="0" y="437782"/>
                </a:lnTo>
                <a:lnTo>
                  <a:pt x="3657600" y="437782"/>
                </a:lnTo>
                <a:lnTo>
                  <a:pt x="365760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8895009"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028700" y="4964258"/>
            <a:ext cx="517497" cy="358484"/>
          </a:xfrm>
          <a:custGeom>
            <a:avLst/>
            <a:gdLst/>
            <a:ahLst/>
            <a:cxnLst/>
            <a:rect l="l" t="t" r="r" b="b"/>
            <a:pathLst>
              <a:path w="517497" h="358484">
                <a:moveTo>
                  <a:pt x="0" y="0"/>
                </a:moveTo>
                <a:lnTo>
                  <a:pt x="517497" y="0"/>
                </a:lnTo>
                <a:lnTo>
                  <a:pt x="517497" y="358484"/>
                </a:lnTo>
                <a:lnTo>
                  <a:pt x="0" y="3584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flipH="1">
            <a:off x="16741803" y="4964258"/>
            <a:ext cx="517497" cy="358484"/>
          </a:xfrm>
          <a:custGeom>
            <a:avLst/>
            <a:gdLst/>
            <a:ahLst/>
            <a:cxnLst/>
            <a:rect l="l" t="t" r="r" b="b"/>
            <a:pathLst>
              <a:path w="517497" h="358484">
                <a:moveTo>
                  <a:pt x="517497" y="0"/>
                </a:moveTo>
                <a:lnTo>
                  <a:pt x="0" y="0"/>
                </a:lnTo>
                <a:lnTo>
                  <a:pt x="0" y="358484"/>
                </a:lnTo>
                <a:lnTo>
                  <a:pt x="517497" y="358484"/>
                </a:lnTo>
                <a:lnTo>
                  <a:pt x="517497"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0171" y="0"/>
            <a:ext cx="18298171" cy="10281285"/>
          </a:xfrm>
          <a:custGeom>
            <a:avLst/>
            <a:gdLst/>
            <a:ahLst/>
            <a:cxnLst/>
            <a:rect l="l" t="t" r="r" b="b"/>
            <a:pathLst>
              <a:path w="18298171" h="10281285">
                <a:moveTo>
                  <a:pt x="0" y="0"/>
                </a:moveTo>
                <a:lnTo>
                  <a:pt x="18298171" y="0"/>
                </a:lnTo>
                <a:lnTo>
                  <a:pt x="18298171" y="10281285"/>
                </a:lnTo>
                <a:lnTo>
                  <a:pt x="0" y="10281285"/>
                </a:lnTo>
                <a:lnTo>
                  <a:pt x="0" y="0"/>
                </a:lnTo>
                <a:close/>
              </a:path>
            </a:pathLst>
          </a:custGeom>
          <a:blipFill>
            <a:blip r:embed="rId11"/>
            <a:stretch>
              <a:fillRect/>
            </a:stretch>
          </a:blipFill>
        </p:spPr>
      </p:sp>
      <p:sp>
        <p:nvSpPr>
          <p:cNvPr id="11" name="TextBox 11"/>
          <p:cNvSpPr txBox="1"/>
          <p:nvPr/>
        </p:nvSpPr>
        <p:spPr>
          <a:xfrm>
            <a:off x="7821510" y="1609289"/>
            <a:ext cx="2644981" cy="434759"/>
          </a:xfrm>
          <a:prstGeom prst="rect">
            <a:avLst/>
          </a:prstGeom>
        </p:spPr>
        <p:txBody>
          <a:bodyPr lIns="0" tIns="0" rIns="0" bIns="0" rtlCol="0" anchor="t">
            <a:spAutoFit/>
          </a:bodyPr>
          <a:lstStyle/>
          <a:p>
            <a:pPr algn="ctr">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2" name="TextBox 12"/>
          <p:cNvSpPr txBox="1"/>
          <p:nvPr/>
        </p:nvSpPr>
        <p:spPr>
          <a:xfrm>
            <a:off x="7518961" y="8984615"/>
            <a:ext cx="3250079" cy="273685"/>
          </a:xfrm>
          <a:prstGeom prst="rect">
            <a:avLst/>
          </a:prstGeom>
        </p:spPr>
        <p:txBody>
          <a:bodyPr lIns="0" tIns="0" rIns="0" bIns="0" rtlCol="0" anchor="t">
            <a:spAutoFit/>
          </a:bodyPr>
          <a:lstStyle/>
          <a:p>
            <a:pPr algn="ctr">
              <a:lnSpc>
                <a:spcPts val="2239"/>
              </a:lnSpc>
              <a:spcBef>
                <a:spcPct val="0"/>
              </a:spcBef>
            </a:pPr>
            <a:r>
              <a:rPr lang="en-US" sz="1599" spc="-47">
                <a:solidFill>
                  <a:srgbClr val="FFFFFF"/>
                </a:solidFill>
                <a:latin typeface="Open Sauce"/>
                <a:ea typeface="Open Sauce"/>
                <a:cs typeface="Open Sauce"/>
                <a:sym typeface="Open Sauce"/>
              </a:rPr>
              <a:t>reallygreatsite.com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48215" y="4606104"/>
            <a:ext cx="3740537" cy="4652196"/>
            <a:chOff x="0" y="0"/>
            <a:chExt cx="579507" cy="720747"/>
          </a:xfrm>
        </p:grpSpPr>
        <p:sp>
          <p:nvSpPr>
            <p:cNvPr id="5" name="Freeform 5"/>
            <p:cNvSpPr/>
            <p:nvPr/>
          </p:nvSpPr>
          <p:spPr>
            <a:xfrm>
              <a:off x="0" y="0"/>
              <a:ext cx="579507" cy="720747"/>
            </a:xfrm>
            <a:custGeom>
              <a:avLst/>
              <a:gdLst/>
              <a:ahLst/>
              <a:cxnLst/>
              <a:rect l="l" t="t" r="r" b="b"/>
              <a:pathLst>
                <a:path w="579507" h="720747">
                  <a:moveTo>
                    <a:pt x="0" y="0"/>
                  </a:moveTo>
                  <a:lnTo>
                    <a:pt x="579507" y="0"/>
                  </a:lnTo>
                  <a:lnTo>
                    <a:pt x="579507" y="720747"/>
                  </a:lnTo>
                  <a:lnTo>
                    <a:pt x="0" y="720747"/>
                  </a:lnTo>
                  <a:close/>
                </a:path>
              </a:pathLst>
            </a:custGeom>
            <a:blipFill>
              <a:blip r:embed="rId5"/>
              <a:stretch>
                <a:fillRect l="-43337" r="-43337"/>
              </a:stretch>
            </a:blipFill>
          </p:spPr>
        </p:sp>
      </p:grpSp>
      <p:grpSp>
        <p:nvGrpSpPr>
          <p:cNvPr id="6" name="Group 6"/>
          <p:cNvGrpSpPr/>
          <p:nvPr/>
        </p:nvGrpSpPr>
        <p:grpSpPr>
          <a:xfrm>
            <a:off x="13518763" y="4606104"/>
            <a:ext cx="3740537" cy="4652196"/>
            <a:chOff x="0" y="0"/>
            <a:chExt cx="579507" cy="720747"/>
          </a:xfrm>
        </p:grpSpPr>
        <p:sp>
          <p:nvSpPr>
            <p:cNvPr id="7" name="Freeform 7"/>
            <p:cNvSpPr/>
            <p:nvPr/>
          </p:nvSpPr>
          <p:spPr>
            <a:xfrm>
              <a:off x="0" y="0"/>
              <a:ext cx="579507" cy="720747"/>
            </a:xfrm>
            <a:custGeom>
              <a:avLst/>
              <a:gdLst/>
              <a:ahLst/>
              <a:cxnLst/>
              <a:rect l="l" t="t" r="r" b="b"/>
              <a:pathLst>
                <a:path w="579507" h="720747">
                  <a:moveTo>
                    <a:pt x="0" y="0"/>
                  </a:moveTo>
                  <a:lnTo>
                    <a:pt x="579507" y="0"/>
                  </a:lnTo>
                  <a:lnTo>
                    <a:pt x="579507" y="720747"/>
                  </a:lnTo>
                  <a:lnTo>
                    <a:pt x="0" y="720747"/>
                  </a:lnTo>
                  <a:close/>
                </a:path>
              </a:pathLst>
            </a:custGeom>
            <a:blipFill>
              <a:blip r:embed="rId6"/>
              <a:stretch>
                <a:fillRect l="-43162" r="-43162"/>
              </a:stretch>
            </a:blipFill>
          </p:spPr>
        </p:sp>
      </p:grpSp>
      <p:sp>
        <p:nvSpPr>
          <p:cNvPr id="8" name="Freeform 8"/>
          <p:cNvSpPr/>
          <p:nvPr/>
        </p:nvSpPr>
        <p:spPr>
          <a:xfrm>
            <a:off x="0" y="4589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7"/>
            <a:stretch>
              <a:fillRect/>
            </a:stretch>
          </a:blipFill>
        </p:spPr>
      </p:sp>
      <p:sp>
        <p:nvSpPr>
          <p:cNvPr id="9" name="TextBox 9"/>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0" name="TextBox 10"/>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1" name="TextBox 11"/>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2" name="TextBox 12"/>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518763" y="3325523"/>
            <a:ext cx="3740537" cy="5932777"/>
            <a:chOff x="0" y="0"/>
            <a:chExt cx="579507" cy="919142"/>
          </a:xfrm>
        </p:grpSpPr>
        <p:sp>
          <p:nvSpPr>
            <p:cNvPr id="5" name="Freeform 5"/>
            <p:cNvSpPr/>
            <p:nvPr/>
          </p:nvSpPr>
          <p:spPr>
            <a:xfrm>
              <a:off x="0" y="0"/>
              <a:ext cx="579507" cy="919142"/>
            </a:xfrm>
            <a:custGeom>
              <a:avLst/>
              <a:gdLst/>
              <a:ahLst/>
              <a:cxnLst/>
              <a:rect l="l" t="t" r="r" b="b"/>
              <a:pathLst>
                <a:path w="579507" h="919142">
                  <a:moveTo>
                    <a:pt x="0" y="0"/>
                  </a:moveTo>
                  <a:lnTo>
                    <a:pt x="579507" y="0"/>
                  </a:lnTo>
                  <a:lnTo>
                    <a:pt x="579507" y="919142"/>
                  </a:lnTo>
                  <a:lnTo>
                    <a:pt x="0" y="919142"/>
                  </a:lnTo>
                  <a:close/>
                </a:path>
              </a:pathLst>
            </a:custGeom>
            <a:blipFill>
              <a:blip r:embed="rId5"/>
              <a:stretch>
                <a:fillRect l="-109826" r="-150083" b="11569"/>
              </a:stretch>
            </a:blipFill>
          </p:spPr>
        </p:sp>
      </p:grpSp>
      <p:sp>
        <p:nvSpPr>
          <p:cNvPr id="6" name="Freeform 6"/>
          <p:cNvSpPr/>
          <p:nvPr/>
        </p:nvSpPr>
        <p:spPr>
          <a:xfrm>
            <a:off x="1028700" y="5663540"/>
            <a:ext cx="3146578" cy="376617"/>
          </a:xfrm>
          <a:custGeom>
            <a:avLst/>
            <a:gdLst/>
            <a:ahLst/>
            <a:cxnLst/>
            <a:rect l="l" t="t" r="r" b="b"/>
            <a:pathLst>
              <a:path w="3146578" h="376617">
                <a:moveTo>
                  <a:pt x="0" y="0"/>
                </a:moveTo>
                <a:lnTo>
                  <a:pt x="3146578" y="0"/>
                </a:lnTo>
                <a:lnTo>
                  <a:pt x="3146578" y="376618"/>
                </a:lnTo>
                <a:lnTo>
                  <a:pt x="0" y="3766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8"/>
            <a:stretch>
              <a:fillRect/>
            </a:stretch>
          </a:blipFill>
        </p:spPr>
      </p:sp>
      <p:sp>
        <p:nvSpPr>
          <p:cNvPr id="8" name="TextBox 8"/>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518763" y="3000599"/>
            <a:ext cx="3740537" cy="6257701"/>
            <a:chOff x="0" y="0"/>
            <a:chExt cx="579507" cy="969482"/>
          </a:xfrm>
        </p:grpSpPr>
        <p:sp>
          <p:nvSpPr>
            <p:cNvPr id="5" name="Freeform 5"/>
            <p:cNvSpPr/>
            <p:nvPr/>
          </p:nvSpPr>
          <p:spPr>
            <a:xfrm>
              <a:off x="0" y="0"/>
              <a:ext cx="579507" cy="969482"/>
            </a:xfrm>
            <a:custGeom>
              <a:avLst/>
              <a:gdLst/>
              <a:ahLst/>
              <a:cxnLst/>
              <a:rect l="l" t="t" r="r" b="b"/>
              <a:pathLst>
                <a:path w="579507" h="969482">
                  <a:moveTo>
                    <a:pt x="0" y="0"/>
                  </a:moveTo>
                  <a:lnTo>
                    <a:pt x="579507" y="0"/>
                  </a:lnTo>
                  <a:lnTo>
                    <a:pt x="579507" y="969482"/>
                  </a:lnTo>
                  <a:lnTo>
                    <a:pt x="0" y="969482"/>
                  </a:lnTo>
                  <a:close/>
                </a:path>
              </a:pathLst>
            </a:custGeom>
            <a:blipFill>
              <a:blip r:embed="rId5"/>
              <a:stretch>
                <a:fillRect l="-6146" r="-6146"/>
              </a:stretch>
            </a:blipFill>
          </p:spPr>
        </p:sp>
      </p:grpSp>
      <p:grpSp>
        <p:nvGrpSpPr>
          <p:cNvPr id="6" name="Group 6"/>
          <p:cNvGrpSpPr/>
          <p:nvPr/>
        </p:nvGrpSpPr>
        <p:grpSpPr>
          <a:xfrm>
            <a:off x="9552559" y="6129450"/>
            <a:ext cx="3740537" cy="3128850"/>
            <a:chOff x="0" y="0"/>
            <a:chExt cx="579507" cy="484741"/>
          </a:xfrm>
        </p:grpSpPr>
        <p:sp>
          <p:nvSpPr>
            <p:cNvPr id="7" name="Freeform 7"/>
            <p:cNvSpPr/>
            <p:nvPr/>
          </p:nvSpPr>
          <p:spPr>
            <a:xfrm>
              <a:off x="0" y="0"/>
              <a:ext cx="579507" cy="484741"/>
            </a:xfrm>
            <a:custGeom>
              <a:avLst/>
              <a:gdLst/>
              <a:ahLst/>
              <a:cxnLst/>
              <a:rect l="l" t="t" r="r" b="b"/>
              <a:pathLst>
                <a:path w="579507" h="484741">
                  <a:moveTo>
                    <a:pt x="0" y="0"/>
                  </a:moveTo>
                  <a:lnTo>
                    <a:pt x="579507" y="0"/>
                  </a:lnTo>
                  <a:lnTo>
                    <a:pt x="579507" y="484741"/>
                  </a:lnTo>
                  <a:lnTo>
                    <a:pt x="0" y="484741"/>
                  </a:lnTo>
                  <a:close/>
                </a:path>
              </a:pathLst>
            </a:custGeom>
            <a:blipFill>
              <a:blip r:embed="rId6"/>
              <a:stretch>
                <a:fillRect t="-227" b="-227"/>
              </a:stretch>
            </a:blipFill>
          </p:spPr>
        </p:sp>
      </p:grpSp>
      <p:sp>
        <p:nvSpPr>
          <p:cNvPr id="8" name="Freeform 8"/>
          <p:cNvSpPr/>
          <p:nvPr/>
        </p:nvSpPr>
        <p:spPr>
          <a:xfrm>
            <a:off x="1028700" y="6129450"/>
            <a:ext cx="3657600" cy="470695"/>
          </a:xfrm>
          <a:custGeom>
            <a:avLst/>
            <a:gdLst/>
            <a:ahLst/>
            <a:cxnLst/>
            <a:rect l="l" t="t" r="r" b="b"/>
            <a:pathLst>
              <a:path w="3657600" h="470695">
                <a:moveTo>
                  <a:pt x="0" y="0"/>
                </a:moveTo>
                <a:lnTo>
                  <a:pt x="3657600" y="0"/>
                </a:lnTo>
                <a:lnTo>
                  <a:pt x="3657600" y="470694"/>
                </a:lnTo>
                <a:lnTo>
                  <a:pt x="0" y="470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048215" y="3036478"/>
            <a:ext cx="11889085" cy="154614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KHỞI TẠO SOCKET SERVER</a:t>
            </a:r>
          </a:p>
        </p:txBody>
      </p:sp>
      <p:sp>
        <p:nvSpPr>
          <p:cNvPr id="10" name="TextBox 10"/>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1" name="TextBox 11"/>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2" name="TextBox 12"/>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3" name="TextBox 13"/>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4" name="TextBox 14"/>
          <p:cNvSpPr txBox="1"/>
          <p:nvPr/>
        </p:nvSpPr>
        <p:spPr>
          <a:xfrm>
            <a:off x="2991486" y="8489610"/>
            <a:ext cx="2293068" cy="273685"/>
          </a:xfrm>
          <a:prstGeom prst="rect">
            <a:avLst/>
          </a:prstGeom>
        </p:spPr>
        <p:txBody>
          <a:bodyPr lIns="0" tIns="0" rIns="0" bIns="0" rtlCol="0" anchor="t">
            <a:spAutoFit/>
          </a:bodyPr>
          <a:lstStyle/>
          <a:p>
            <a:pPr algn="l">
              <a:lnSpc>
                <a:spcPts val="2239"/>
              </a:lnSpc>
              <a:spcBef>
                <a:spcPct val="0"/>
              </a:spcBef>
            </a:pPr>
            <a:r>
              <a:rPr lang="en-US" sz="1599" spc="-47">
                <a:solidFill>
                  <a:srgbClr val="FFFFFF"/>
                </a:solidFill>
                <a:latin typeface="Open Sauce"/>
                <a:ea typeface="Open Sauce"/>
                <a:cs typeface="Open Sauce"/>
                <a:sym typeface="Open Sauce"/>
              </a:rPr>
              <a:t>Tiếp nhận Client.</a:t>
            </a:r>
          </a:p>
        </p:txBody>
      </p:sp>
      <p:sp>
        <p:nvSpPr>
          <p:cNvPr id="15" name="TextBox 15"/>
          <p:cNvSpPr txBox="1"/>
          <p:nvPr/>
        </p:nvSpPr>
        <p:spPr>
          <a:xfrm>
            <a:off x="2991486" y="8006375"/>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Lắng nghe kết nối.</a:t>
            </a:r>
          </a:p>
        </p:txBody>
      </p:sp>
      <p:sp>
        <p:nvSpPr>
          <p:cNvPr id="16" name="TextBox 16"/>
          <p:cNvSpPr txBox="1"/>
          <p:nvPr/>
        </p:nvSpPr>
        <p:spPr>
          <a:xfrm>
            <a:off x="2991486" y="899414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Nhận dữ liệu file.m</a:t>
            </a:r>
          </a:p>
        </p:txBody>
      </p:sp>
      <p:sp>
        <p:nvSpPr>
          <p:cNvPr id="17" name="TextBox 17"/>
          <p:cNvSpPr txBox="1"/>
          <p:nvPr/>
        </p:nvSpPr>
        <p:spPr>
          <a:xfrm>
            <a:off x="1028700" y="8004129"/>
            <a:ext cx="1677318" cy="264160"/>
          </a:xfrm>
          <a:prstGeom prst="rect">
            <a:avLst/>
          </a:prstGeom>
        </p:spPr>
        <p:txBody>
          <a:bodyPr lIns="0" tIns="0" rIns="0" bIns="0" rtlCol="0" anchor="t">
            <a:spAutoFit/>
          </a:bodyPr>
          <a:lstStyle/>
          <a:p>
            <a:pPr algn="l">
              <a:lnSpc>
                <a:spcPts val="2240"/>
              </a:lnSpc>
              <a:spcBef>
                <a:spcPct val="0"/>
              </a:spcBef>
            </a:pPr>
            <a:r>
              <a:rPr lang="en-US" sz="1600" b="1" spc="-48">
                <a:solidFill>
                  <a:srgbClr val="5CE1E6"/>
                </a:solidFill>
                <a:latin typeface="Open Sauce Bold"/>
                <a:ea typeface="Open Sauce Bold"/>
                <a:cs typeface="Open Sauce Bold"/>
                <a:sym typeface="Open Sauce Bold"/>
              </a:rPr>
              <a:t>Contact Us</a:t>
            </a:r>
          </a:p>
        </p:txBody>
      </p:sp>
      <p:sp>
        <p:nvSpPr>
          <p:cNvPr id="18" name="TextBox 18"/>
          <p:cNvSpPr txBox="1"/>
          <p:nvPr/>
        </p:nvSpPr>
        <p:spPr>
          <a:xfrm>
            <a:off x="2991486" y="948690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oLưu file vào Server.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690057" y="1511289"/>
            <a:ext cx="3251499" cy="7134213"/>
            <a:chOff x="0" y="0"/>
            <a:chExt cx="689777" cy="1513460"/>
          </a:xfrm>
        </p:grpSpPr>
        <p:sp>
          <p:nvSpPr>
            <p:cNvPr id="5" name="Freeform 5"/>
            <p:cNvSpPr/>
            <p:nvPr/>
          </p:nvSpPr>
          <p:spPr>
            <a:xfrm>
              <a:off x="0" y="0"/>
              <a:ext cx="689777" cy="1513460"/>
            </a:xfrm>
            <a:custGeom>
              <a:avLst/>
              <a:gdLst/>
              <a:ahLst/>
              <a:cxnLst/>
              <a:rect l="l" t="t" r="r" b="b"/>
              <a:pathLst>
                <a:path w="689777" h="1513460">
                  <a:moveTo>
                    <a:pt x="0" y="0"/>
                  </a:moveTo>
                  <a:lnTo>
                    <a:pt x="689777" y="0"/>
                  </a:lnTo>
                  <a:lnTo>
                    <a:pt x="689777" y="1513460"/>
                  </a:lnTo>
                  <a:lnTo>
                    <a:pt x="0" y="1513460"/>
                  </a:lnTo>
                  <a:close/>
                </a:path>
              </a:pathLst>
            </a:custGeom>
            <a:blipFill>
              <a:blip r:embed="rId5"/>
              <a:stretch>
                <a:fillRect l="-2095" r="-2095"/>
              </a:stretch>
            </a:blipFill>
          </p:spPr>
        </p:sp>
      </p:grpSp>
      <p:grpSp>
        <p:nvGrpSpPr>
          <p:cNvPr id="6" name="Group 6"/>
          <p:cNvGrpSpPr/>
          <p:nvPr/>
        </p:nvGrpSpPr>
        <p:grpSpPr>
          <a:xfrm>
            <a:off x="7249634" y="4258736"/>
            <a:ext cx="6367378" cy="4268974"/>
            <a:chOff x="0" y="0"/>
            <a:chExt cx="986473" cy="661376"/>
          </a:xfrm>
        </p:grpSpPr>
        <p:sp>
          <p:nvSpPr>
            <p:cNvPr id="7" name="Freeform 7"/>
            <p:cNvSpPr/>
            <p:nvPr/>
          </p:nvSpPr>
          <p:spPr>
            <a:xfrm>
              <a:off x="0" y="0"/>
              <a:ext cx="986473" cy="661376"/>
            </a:xfrm>
            <a:custGeom>
              <a:avLst/>
              <a:gdLst/>
              <a:ahLst/>
              <a:cxnLst/>
              <a:rect l="l" t="t" r="r" b="b"/>
              <a:pathLst>
                <a:path w="986473" h="661376">
                  <a:moveTo>
                    <a:pt x="0" y="0"/>
                  </a:moveTo>
                  <a:lnTo>
                    <a:pt x="986473" y="0"/>
                  </a:lnTo>
                  <a:lnTo>
                    <a:pt x="986473" y="661376"/>
                  </a:lnTo>
                  <a:lnTo>
                    <a:pt x="0" y="661376"/>
                  </a:lnTo>
                  <a:close/>
                </a:path>
              </a:pathLst>
            </a:custGeom>
            <a:blipFill>
              <a:blip r:embed="rId6"/>
              <a:stretch>
                <a:fillRect l="-2108" r="-2108"/>
              </a:stretch>
            </a:blipFill>
          </p:spPr>
        </p:sp>
      </p:grpSp>
      <p:sp>
        <p:nvSpPr>
          <p:cNvPr id="8" name="Freeform 8"/>
          <p:cNvSpPr/>
          <p:nvPr/>
        </p:nvSpPr>
        <p:spPr>
          <a:xfrm>
            <a:off x="1028700" y="6129450"/>
            <a:ext cx="3657600" cy="470695"/>
          </a:xfrm>
          <a:custGeom>
            <a:avLst/>
            <a:gdLst/>
            <a:ahLst/>
            <a:cxnLst/>
            <a:rect l="l" t="t" r="r" b="b"/>
            <a:pathLst>
              <a:path w="3657600" h="470695">
                <a:moveTo>
                  <a:pt x="0" y="0"/>
                </a:moveTo>
                <a:lnTo>
                  <a:pt x="3657600" y="0"/>
                </a:lnTo>
                <a:lnTo>
                  <a:pt x="3657600" y="470694"/>
                </a:lnTo>
                <a:lnTo>
                  <a:pt x="0" y="470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048215" y="3036478"/>
            <a:ext cx="11889085" cy="154614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 MULTITHREADING SERVER</a:t>
            </a:r>
          </a:p>
        </p:txBody>
      </p:sp>
      <p:sp>
        <p:nvSpPr>
          <p:cNvPr id="10" name="TextBox 10"/>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1" name="TextBox 11"/>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2" name="TextBox 12"/>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3" name="TextBox 13"/>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4" name="TextBox 14"/>
          <p:cNvSpPr txBox="1"/>
          <p:nvPr/>
        </p:nvSpPr>
        <p:spPr>
          <a:xfrm>
            <a:off x="2991486" y="8489610"/>
            <a:ext cx="2293068" cy="273685"/>
          </a:xfrm>
          <a:prstGeom prst="rect">
            <a:avLst/>
          </a:prstGeom>
        </p:spPr>
        <p:txBody>
          <a:bodyPr lIns="0" tIns="0" rIns="0" bIns="0" rtlCol="0" anchor="t">
            <a:spAutoFit/>
          </a:bodyPr>
          <a:lstStyle/>
          <a:p>
            <a:pPr algn="l">
              <a:lnSpc>
                <a:spcPts val="2239"/>
              </a:lnSpc>
              <a:spcBef>
                <a:spcPct val="0"/>
              </a:spcBef>
            </a:pPr>
            <a:r>
              <a:rPr lang="en-US" sz="1599" spc="-47">
                <a:solidFill>
                  <a:srgbClr val="FFFFFF"/>
                </a:solidFill>
                <a:latin typeface="Open Sauce"/>
                <a:ea typeface="Open Sauce"/>
                <a:cs typeface="Open Sauce"/>
                <a:sym typeface="Open Sauce"/>
              </a:rPr>
              <a:t>Tạo kết nối TCP</a:t>
            </a:r>
          </a:p>
        </p:txBody>
      </p:sp>
      <p:sp>
        <p:nvSpPr>
          <p:cNvPr id="15" name="TextBox 15"/>
          <p:cNvSpPr txBox="1"/>
          <p:nvPr/>
        </p:nvSpPr>
        <p:spPr>
          <a:xfrm>
            <a:off x="2991486" y="8006375"/>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Kiểm tra file hợp lệ.</a:t>
            </a:r>
          </a:p>
        </p:txBody>
      </p:sp>
      <p:sp>
        <p:nvSpPr>
          <p:cNvPr id="16" name="TextBox 16"/>
          <p:cNvSpPr txBox="1"/>
          <p:nvPr/>
        </p:nvSpPr>
        <p:spPr>
          <a:xfrm>
            <a:off x="2991486" y="899414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Gửi file.</a:t>
            </a:r>
          </a:p>
        </p:txBody>
      </p:sp>
      <p:sp>
        <p:nvSpPr>
          <p:cNvPr id="17" name="TextBox 17"/>
          <p:cNvSpPr txBox="1"/>
          <p:nvPr/>
        </p:nvSpPr>
        <p:spPr>
          <a:xfrm>
            <a:off x="329470" y="7781244"/>
            <a:ext cx="2376548" cy="763270"/>
          </a:xfrm>
          <a:prstGeom prst="rect">
            <a:avLst/>
          </a:prstGeom>
        </p:spPr>
        <p:txBody>
          <a:bodyPr lIns="0" tIns="0" rIns="0" bIns="0" rtlCol="0" anchor="t">
            <a:spAutoFit/>
          </a:bodyPr>
          <a:lstStyle/>
          <a:p>
            <a:pPr algn="l">
              <a:lnSpc>
                <a:spcPts val="3173"/>
              </a:lnSpc>
              <a:spcBef>
                <a:spcPct val="0"/>
              </a:spcBef>
            </a:pPr>
            <a:r>
              <a:rPr lang="en-US" sz="2267" b="1" spc="-68">
                <a:solidFill>
                  <a:srgbClr val="5CE1E6"/>
                </a:solidFill>
                <a:latin typeface="Open Sauce Bold"/>
                <a:ea typeface="Open Sauce Bold"/>
                <a:cs typeface="Open Sauce Bold"/>
                <a:sym typeface="Open Sauce Bold"/>
              </a:rPr>
              <a:t>Client chịu trách nhiệm:</a:t>
            </a:r>
          </a:p>
        </p:txBody>
      </p:sp>
      <p:sp>
        <p:nvSpPr>
          <p:cNvPr id="18" name="TextBox 18"/>
          <p:cNvSpPr txBox="1"/>
          <p:nvPr/>
        </p:nvSpPr>
        <p:spPr>
          <a:xfrm>
            <a:off x="2991486" y="948690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oLưu file vào Server.</a:t>
            </a:r>
          </a:p>
        </p:txBody>
      </p:sp>
      <p:sp>
        <p:nvSpPr>
          <p:cNvPr id="19" name="TextBox 19"/>
          <p:cNvSpPr txBox="1"/>
          <p:nvPr/>
        </p:nvSpPr>
        <p:spPr>
          <a:xfrm>
            <a:off x="2991486" y="741756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Nhận trạng thái từ Server.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48215" y="3291228"/>
            <a:ext cx="3740537" cy="5967072"/>
            <a:chOff x="0" y="0"/>
            <a:chExt cx="579507" cy="924456"/>
          </a:xfrm>
        </p:grpSpPr>
        <p:sp>
          <p:nvSpPr>
            <p:cNvPr id="5" name="Freeform 5"/>
            <p:cNvSpPr/>
            <p:nvPr/>
          </p:nvSpPr>
          <p:spPr>
            <a:xfrm>
              <a:off x="0" y="0"/>
              <a:ext cx="579507" cy="924456"/>
            </a:xfrm>
            <a:custGeom>
              <a:avLst/>
              <a:gdLst/>
              <a:ahLst/>
              <a:cxnLst/>
              <a:rect l="l" t="t" r="r" b="b"/>
              <a:pathLst>
                <a:path w="579507" h="924456">
                  <a:moveTo>
                    <a:pt x="0" y="0"/>
                  </a:moveTo>
                  <a:lnTo>
                    <a:pt x="579507" y="0"/>
                  </a:lnTo>
                  <a:lnTo>
                    <a:pt x="579507" y="924456"/>
                  </a:lnTo>
                  <a:lnTo>
                    <a:pt x="0" y="924456"/>
                  </a:lnTo>
                  <a:close/>
                </a:path>
              </a:pathLst>
            </a:custGeom>
            <a:blipFill>
              <a:blip r:embed="rId5"/>
              <a:stretch>
                <a:fillRect l="-6591" r="-6591"/>
              </a:stretch>
            </a:blipFill>
          </p:spPr>
        </p:sp>
      </p:grpSp>
      <p:grpSp>
        <p:nvGrpSpPr>
          <p:cNvPr id="6" name="Group 6"/>
          <p:cNvGrpSpPr/>
          <p:nvPr/>
        </p:nvGrpSpPr>
        <p:grpSpPr>
          <a:xfrm>
            <a:off x="13518763" y="3291228"/>
            <a:ext cx="3740537" cy="5967072"/>
            <a:chOff x="0" y="0"/>
            <a:chExt cx="579507" cy="924456"/>
          </a:xfrm>
        </p:grpSpPr>
        <p:sp>
          <p:nvSpPr>
            <p:cNvPr id="7" name="Freeform 7"/>
            <p:cNvSpPr/>
            <p:nvPr/>
          </p:nvSpPr>
          <p:spPr>
            <a:xfrm>
              <a:off x="0" y="0"/>
              <a:ext cx="579507" cy="924456"/>
            </a:xfrm>
            <a:custGeom>
              <a:avLst/>
              <a:gdLst/>
              <a:ahLst/>
              <a:cxnLst/>
              <a:rect l="l" t="t" r="r" b="b"/>
              <a:pathLst>
                <a:path w="579507" h="924456">
                  <a:moveTo>
                    <a:pt x="0" y="0"/>
                  </a:moveTo>
                  <a:lnTo>
                    <a:pt x="579507" y="0"/>
                  </a:lnTo>
                  <a:lnTo>
                    <a:pt x="579507" y="924456"/>
                  </a:lnTo>
                  <a:lnTo>
                    <a:pt x="0" y="924456"/>
                  </a:lnTo>
                  <a:close/>
                </a:path>
              </a:pathLst>
            </a:custGeom>
            <a:blipFill>
              <a:blip r:embed="rId6"/>
              <a:stretch>
                <a:fillRect l="-11691" r="-11691"/>
              </a:stretch>
            </a:blipFill>
          </p:spPr>
        </p:sp>
      </p:grpSp>
      <p:grpSp>
        <p:nvGrpSpPr>
          <p:cNvPr id="8" name="Group 8"/>
          <p:cNvGrpSpPr/>
          <p:nvPr/>
        </p:nvGrpSpPr>
        <p:grpSpPr>
          <a:xfrm>
            <a:off x="5587299" y="4502609"/>
            <a:ext cx="7113403" cy="4755691"/>
            <a:chOff x="0" y="0"/>
            <a:chExt cx="1102052" cy="736781"/>
          </a:xfrm>
        </p:grpSpPr>
        <p:sp>
          <p:nvSpPr>
            <p:cNvPr id="9" name="Freeform 9"/>
            <p:cNvSpPr/>
            <p:nvPr/>
          </p:nvSpPr>
          <p:spPr>
            <a:xfrm>
              <a:off x="0" y="0"/>
              <a:ext cx="1102052" cy="736781"/>
            </a:xfrm>
            <a:custGeom>
              <a:avLst/>
              <a:gdLst/>
              <a:ahLst/>
              <a:cxnLst/>
              <a:rect l="l" t="t" r="r" b="b"/>
              <a:pathLst>
                <a:path w="1102052" h="736781">
                  <a:moveTo>
                    <a:pt x="0" y="0"/>
                  </a:moveTo>
                  <a:lnTo>
                    <a:pt x="1102052" y="0"/>
                  </a:lnTo>
                  <a:lnTo>
                    <a:pt x="1102052" y="736781"/>
                  </a:lnTo>
                  <a:lnTo>
                    <a:pt x="0" y="736781"/>
                  </a:lnTo>
                  <a:close/>
                </a:path>
              </a:pathLst>
            </a:custGeom>
            <a:blipFill>
              <a:blip r:embed="rId7"/>
              <a:stretch>
                <a:fillRect t="-4723" b="-4723"/>
              </a:stretch>
            </a:blipFill>
          </p:spPr>
        </p:sp>
      </p:grpSp>
      <p:sp>
        <p:nvSpPr>
          <p:cNvPr id="10" name="TextBox 10"/>
          <p:cNvSpPr txBox="1"/>
          <p:nvPr/>
        </p:nvSpPr>
        <p:spPr>
          <a:xfrm>
            <a:off x="1546197" y="862857"/>
            <a:ext cx="5720964" cy="1259686"/>
          </a:xfrm>
          <a:prstGeom prst="rect">
            <a:avLst/>
          </a:prstGeom>
        </p:spPr>
        <p:txBody>
          <a:bodyPr lIns="0" tIns="0" rIns="0" bIns="0" rtlCol="0" anchor="t">
            <a:spAutoFit/>
          </a:bodyPr>
          <a:lstStyle/>
          <a:p>
            <a:pPr algn="l">
              <a:lnSpc>
                <a:spcPts val="5067"/>
              </a:lnSpc>
            </a:pPr>
            <a:r>
              <a:rPr lang="en-US" sz="3619">
                <a:solidFill>
                  <a:srgbClr val="FFFFFF"/>
                </a:solidFill>
                <a:latin typeface="RQND Pro UltraWide"/>
                <a:ea typeface="RQND Pro UltraWide"/>
                <a:cs typeface="RQND Pro UltraWide"/>
                <a:sym typeface="RQND Pro UltraWide"/>
              </a:rPr>
              <a:t>LUỒNG GỬI FILE</a:t>
            </a:r>
          </a:p>
          <a:p>
            <a:pPr algn="l">
              <a:lnSpc>
                <a:spcPts val="5067"/>
              </a:lnSpc>
              <a:spcBef>
                <a:spcPct val="0"/>
              </a:spcBef>
            </a:pPr>
            <a:endParaRPr lang="en-US" sz="3619">
              <a:solidFill>
                <a:srgbClr val="FFFFFF"/>
              </a:solidFill>
              <a:latin typeface="RQND Pro UltraWide"/>
              <a:ea typeface="RQND Pro UltraWide"/>
              <a:cs typeface="RQND Pro UltraWide"/>
              <a:sym typeface="RQND Pro UltraWide"/>
            </a:endParaRPr>
          </a:p>
        </p:txBody>
      </p:sp>
      <p:sp>
        <p:nvSpPr>
          <p:cNvPr id="11" name="TextBox 11"/>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2" name="TextBox 12"/>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3" name="TextBox 13"/>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4" name="TextBox 14"/>
          <p:cNvSpPr txBox="1"/>
          <p:nvPr/>
        </p:nvSpPr>
        <p:spPr>
          <a:xfrm>
            <a:off x="1546197" y="2293393"/>
            <a:ext cx="15553020" cy="46661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Times New Roman"/>
                <a:ea typeface="Times New Roman"/>
                <a:cs typeface="Times New Roman"/>
                <a:sym typeface="Times New Roman"/>
              </a:rPr>
              <a:t>Protocol thực tế của dự án có send_file(), recv_file_header(), recv_file_data(), send_response() và recv_response().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048215" y="3026198"/>
            <a:ext cx="3657600" cy="437782"/>
          </a:xfrm>
          <a:custGeom>
            <a:avLst/>
            <a:gdLst/>
            <a:ahLst/>
            <a:cxnLst/>
            <a:rect l="l" t="t" r="r" b="b"/>
            <a:pathLst>
              <a:path w="3657600" h="437782">
                <a:moveTo>
                  <a:pt x="0" y="0"/>
                </a:moveTo>
                <a:lnTo>
                  <a:pt x="3657600" y="0"/>
                </a:lnTo>
                <a:lnTo>
                  <a:pt x="3657600" y="437782"/>
                </a:lnTo>
                <a:lnTo>
                  <a:pt x="0" y="4377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445315" y="3628392"/>
            <a:ext cx="4260501" cy="6658608"/>
          </a:xfrm>
          <a:custGeom>
            <a:avLst/>
            <a:gdLst/>
            <a:ahLst/>
            <a:cxnLst/>
            <a:rect l="l" t="t" r="r" b="b"/>
            <a:pathLst>
              <a:path w="4260501" h="6658608">
                <a:moveTo>
                  <a:pt x="0" y="0"/>
                </a:moveTo>
                <a:lnTo>
                  <a:pt x="4260500" y="0"/>
                </a:lnTo>
                <a:lnTo>
                  <a:pt x="4260500" y="6658608"/>
                </a:lnTo>
                <a:lnTo>
                  <a:pt x="0" y="6658608"/>
                </a:lnTo>
                <a:lnTo>
                  <a:pt x="0" y="0"/>
                </a:lnTo>
                <a:close/>
              </a:path>
            </a:pathLst>
          </a:custGeom>
          <a:blipFill>
            <a:blip r:embed="rId7"/>
            <a:stretch>
              <a:fillRect l="-15017" r="-15017"/>
            </a:stretch>
          </a:blipFill>
        </p:spPr>
      </p:sp>
      <p:sp>
        <p:nvSpPr>
          <p:cNvPr id="6" name="Freeform 6"/>
          <p:cNvSpPr/>
          <p:nvPr/>
        </p:nvSpPr>
        <p:spPr>
          <a:xfrm>
            <a:off x="4705815" y="3789063"/>
            <a:ext cx="11828767" cy="4575936"/>
          </a:xfrm>
          <a:custGeom>
            <a:avLst/>
            <a:gdLst/>
            <a:ahLst/>
            <a:cxnLst/>
            <a:rect l="l" t="t" r="r" b="b"/>
            <a:pathLst>
              <a:path w="11828767" h="4575936">
                <a:moveTo>
                  <a:pt x="0" y="0"/>
                </a:moveTo>
                <a:lnTo>
                  <a:pt x="11828768" y="0"/>
                </a:lnTo>
                <a:lnTo>
                  <a:pt x="11828768" y="4575936"/>
                </a:lnTo>
                <a:lnTo>
                  <a:pt x="0" y="4575936"/>
                </a:lnTo>
                <a:lnTo>
                  <a:pt x="0" y="0"/>
                </a:lnTo>
                <a:close/>
              </a:path>
            </a:pathLst>
          </a:custGeom>
          <a:blipFill>
            <a:blip r:embed="rId8"/>
            <a:stretch>
              <a:fillRect t="-9068" r="-34440" b="-2872"/>
            </a:stretch>
          </a:blipFill>
        </p:spPr>
      </p:sp>
      <p:sp>
        <p:nvSpPr>
          <p:cNvPr id="7" name="TextBox 7"/>
          <p:cNvSpPr txBox="1"/>
          <p:nvPr/>
        </p:nvSpPr>
        <p:spPr>
          <a:xfrm>
            <a:off x="9124695" y="1892821"/>
            <a:ext cx="7590836" cy="154614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KIẾN TRÚC HỆ THỐNG</a:t>
            </a:r>
          </a:p>
        </p:txBody>
      </p:sp>
      <p:sp>
        <p:nvSpPr>
          <p:cNvPr id="8" name="TextBox 8"/>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2" name="TextBox 12"/>
          <p:cNvSpPr txBox="1"/>
          <p:nvPr/>
        </p:nvSpPr>
        <p:spPr>
          <a:xfrm>
            <a:off x="7863655" y="8923482"/>
            <a:ext cx="5276535" cy="513080"/>
          </a:xfrm>
          <a:prstGeom prst="rect">
            <a:avLst/>
          </a:prstGeom>
        </p:spPr>
        <p:txBody>
          <a:bodyPr lIns="0" tIns="0" rIns="0" bIns="0" rtlCol="0" anchor="t">
            <a:spAutoFit/>
          </a:bodyPr>
          <a:lstStyle/>
          <a:p>
            <a:pPr algn="l">
              <a:lnSpc>
                <a:spcPts val="2079"/>
              </a:lnSpc>
            </a:pPr>
            <a:r>
              <a:rPr lang="en-US" sz="1599" spc="-47">
                <a:solidFill>
                  <a:srgbClr val="FFFFFF"/>
                </a:solidFill>
                <a:latin typeface="Open Sauce"/>
                <a:ea typeface="Open Sauce"/>
                <a:cs typeface="Open Sauce"/>
                <a:sym typeface="Open Sauce"/>
              </a:rPr>
              <a:t>Server tạo TCP Socket, lắng nghe kết nối từ Client và nhận file lưu vào thư mục uploads.</a:t>
            </a:r>
          </a:p>
        </p:txBody>
      </p:sp>
      <p:sp>
        <p:nvSpPr>
          <p:cNvPr id="13" name="TextBox 13"/>
          <p:cNvSpPr txBox="1"/>
          <p:nvPr/>
        </p:nvSpPr>
        <p:spPr>
          <a:xfrm>
            <a:off x="13321499" y="6501033"/>
            <a:ext cx="1261040" cy="273685"/>
          </a:xfrm>
          <a:prstGeom prst="rect">
            <a:avLst/>
          </a:prstGeom>
        </p:spPr>
        <p:txBody>
          <a:bodyPr lIns="0" tIns="0" rIns="0" bIns="0" rtlCol="0" anchor="t">
            <a:spAutoFit/>
          </a:bodyPr>
          <a:lstStyle/>
          <a:p>
            <a:pPr algn="l">
              <a:lnSpc>
                <a:spcPts val="2239"/>
              </a:lnSpc>
              <a:spcBef>
                <a:spcPct val="0"/>
              </a:spcBef>
            </a:pPr>
            <a:r>
              <a:rPr lang="en-US" sz="1599" b="1" spc="-47">
                <a:solidFill>
                  <a:srgbClr val="5CE1E6"/>
                </a:solidFill>
                <a:latin typeface="Open Sauce Bold"/>
                <a:ea typeface="Open Sauce Bold"/>
                <a:cs typeface="Open Sauce Bold"/>
                <a:sym typeface="Open Sauce Bold"/>
              </a:rPr>
              <a:t>Service 03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4166" y="2294737"/>
            <a:ext cx="9643442" cy="4698130"/>
            <a:chOff x="0" y="0"/>
            <a:chExt cx="1221118" cy="594909"/>
          </a:xfrm>
        </p:grpSpPr>
        <p:sp>
          <p:nvSpPr>
            <p:cNvPr id="5" name="Freeform 5"/>
            <p:cNvSpPr/>
            <p:nvPr/>
          </p:nvSpPr>
          <p:spPr>
            <a:xfrm>
              <a:off x="0" y="0"/>
              <a:ext cx="1221118" cy="594909"/>
            </a:xfrm>
            <a:custGeom>
              <a:avLst/>
              <a:gdLst/>
              <a:ahLst/>
              <a:cxnLst/>
              <a:rect l="l" t="t" r="r" b="b"/>
              <a:pathLst>
                <a:path w="1221118" h="594909">
                  <a:moveTo>
                    <a:pt x="0" y="0"/>
                  </a:moveTo>
                  <a:lnTo>
                    <a:pt x="1221118" y="0"/>
                  </a:lnTo>
                  <a:lnTo>
                    <a:pt x="1221118" y="594909"/>
                  </a:lnTo>
                  <a:lnTo>
                    <a:pt x="0" y="594909"/>
                  </a:lnTo>
                  <a:close/>
                </a:path>
              </a:pathLst>
            </a:custGeom>
            <a:blipFill>
              <a:blip r:embed="rId5"/>
              <a:stretch>
                <a:fillRect t="-7729" b="-7729"/>
              </a:stretch>
            </a:blipFill>
          </p:spPr>
        </p:sp>
      </p:grpSp>
      <p:sp>
        <p:nvSpPr>
          <p:cNvPr id="6" name="Freeform 6"/>
          <p:cNvSpPr/>
          <p:nvPr/>
        </p:nvSpPr>
        <p:spPr>
          <a:xfrm>
            <a:off x="10651764" y="5795002"/>
            <a:ext cx="3657600" cy="437782"/>
          </a:xfrm>
          <a:custGeom>
            <a:avLst/>
            <a:gdLst/>
            <a:ahLst/>
            <a:cxnLst/>
            <a:rect l="l" t="t" r="r" b="b"/>
            <a:pathLst>
              <a:path w="3657600" h="437782">
                <a:moveTo>
                  <a:pt x="0" y="0"/>
                </a:moveTo>
                <a:lnTo>
                  <a:pt x="3657600" y="0"/>
                </a:lnTo>
                <a:lnTo>
                  <a:pt x="3657600" y="437782"/>
                </a:lnTo>
                <a:lnTo>
                  <a:pt x="0" y="4377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0651764" y="2847923"/>
            <a:ext cx="6651250" cy="154614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 UPLOAD NHIỀU FILE</a:t>
            </a:r>
          </a:p>
        </p:txBody>
      </p:sp>
      <p:sp>
        <p:nvSpPr>
          <p:cNvPr id="8" name="TextBox 8"/>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2" name="TextBox 12"/>
          <p:cNvSpPr txBox="1"/>
          <p:nvPr/>
        </p:nvSpPr>
        <p:spPr>
          <a:xfrm>
            <a:off x="1235161" y="7407736"/>
            <a:ext cx="7901452" cy="1473200"/>
          </a:xfrm>
          <a:prstGeom prst="rect">
            <a:avLst/>
          </a:prstGeom>
        </p:spPr>
        <p:txBody>
          <a:bodyPr lIns="0" tIns="0" rIns="0" bIns="0" rtlCol="0" anchor="t">
            <a:spAutoFit/>
          </a:bodyPr>
          <a:lstStyle/>
          <a:p>
            <a:pPr algn="l">
              <a:lnSpc>
                <a:spcPts val="2469"/>
              </a:lnSpc>
            </a:pPr>
            <a:r>
              <a:rPr lang="en-US" sz="1899" b="1" spc="-56">
                <a:solidFill>
                  <a:srgbClr val="FFFFFF"/>
                </a:solidFill>
                <a:latin typeface="Open Sauce Bold"/>
                <a:ea typeface="Open Sauce Bold"/>
                <a:cs typeface="Open Sauce Bold"/>
                <a:sym typeface="Open Sauce Bold"/>
              </a:rPr>
              <a:t>Ưu điểm:</a:t>
            </a:r>
          </a:p>
          <a:p>
            <a:pPr marL="410208" lvl="1" indent="-205104" algn="l">
              <a:lnSpc>
                <a:spcPts val="2469"/>
              </a:lnSpc>
              <a:buFont typeface="Arial"/>
              <a:buChar char="•"/>
            </a:pPr>
            <a:r>
              <a:rPr lang="en-US" sz="1899" b="1" spc="-56">
                <a:solidFill>
                  <a:srgbClr val="FFFFFF"/>
                </a:solidFill>
                <a:latin typeface="Open Sauce Bold"/>
                <a:ea typeface="Open Sauce Bold"/>
                <a:cs typeface="Open Sauce Bold"/>
                <a:sym typeface="Open Sauce Bold"/>
              </a:rPr>
              <a:t>Theo dõi riêng từng file.</a:t>
            </a:r>
          </a:p>
          <a:p>
            <a:pPr marL="410208" lvl="1" indent="-205104" algn="l">
              <a:lnSpc>
                <a:spcPts val="2469"/>
              </a:lnSpc>
              <a:buFont typeface="Arial"/>
              <a:buChar char="•"/>
            </a:pPr>
            <a:r>
              <a:rPr lang="en-US" sz="1899" b="1" spc="-56">
                <a:solidFill>
                  <a:srgbClr val="FFFFFF"/>
                </a:solidFill>
                <a:latin typeface="Open Sauce Bold"/>
                <a:ea typeface="Open Sauce Bold"/>
                <a:cs typeface="Open Sauce Bold"/>
                <a:sym typeface="Open Sauce Bold"/>
              </a:rPr>
              <a:t>File lỗi không ảnh hưởng các file khác.</a:t>
            </a:r>
          </a:p>
          <a:p>
            <a:pPr marL="410208" lvl="1" indent="-205104" algn="l">
              <a:lnSpc>
                <a:spcPts val="2469"/>
              </a:lnSpc>
              <a:buFont typeface="Arial"/>
              <a:buChar char="•"/>
            </a:pPr>
            <a:r>
              <a:rPr lang="en-US" sz="1899" b="1" spc="-56">
                <a:solidFill>
                  <a:srgbClr val="FFFFFF"/>
                </a:solidFill>
                <a:latin typeface="Open Sauce Bold"/>
                <a:ea typeface="Open Sauce Bold"/>
                <a:cs typeface="Open Sauce Bold"/>
                <a:sym typeface="Open Sauce Bold"/>
              </a:rPr>
              <a:t>Có thể xử lý nhiều file cùng lúc.</a:t>
            </a:r>
          </a:p>
          <a:p>
            <a:pPr algn="l">
              <a:lnSpc>
                <a:spcPts val="2079"/>
              </a:lnSpc>
            </a:pPr>
            <a:endParaRPr lang="en-US" sz="1899" b="1" spc="-56">
              <a:solidFill>
                <a:srgbClr val="FFFFFF"/>
              </a:solidFill>
              <a:latin typeface="Open Sauce Bold"/>
              <a:ea typeface="Open Sauce Bold"/>
              <a:cs typeface="Open Sauce Bold"/>
              <a:sym typeface="Open Sauce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4166" y="2294737"/>
            <a:ext cx="9643442" cy="4698130"/>
            <a:chOff x="0" y="0"/>
            <a:chExt cx="1221118" cy="594909"/>
          </a:xfrm>
        </p:grpSpPr>
        <p:sp>
          <p:nvSpPr>
            <p:cNvPr id="5" name="Freeform 5"/>
            <p:cNvSpPr/>
            <p:nvPr/>
          </p:nvSpPr>
          <p:spPr>
            <a:xfrm>
              <a:off x="0" y="0"/>
              <a:ext cx="1221118" cy="594909"/>
            </a:xfrm>
            <a:custGeom>
              <a:avLst/>
              <a:gdLst/>
              <a:ahLst/>
              <a:cxnLst/>
              <a:rect l="l" t="t" r="r" b="b"/>
              <a:pathLst>
                <a:path w="1221118" h="594909">
                  <a:moveTo>
                    <a:pt x="0" y="0"/>
                  </a:moveTo>
                  <a:lnTo>
                    <a:pt x="1221118" y="0"/>
                  </a:lnTo>
                  <a:lnTo>
                    <a:pt x="1221118" y="594909"/>
                  </a:lnTo>
                  <a:lnTo>
                    <a:pt x="0" y="594909"/>
                  </a:lnTo>
                  <a:close/>
                </a:path>
              </a:pathLst>
            </a:custGeom>
            <a:blipFill>
              <a:blip r:embed="rId5"/>
              <a:stretch>
                <a:fillRect l="-4848" r="-4848"/>
              </a:stretch>
            </a:blipFill>
          </p:spPr>
        </p:sp>
      </p:grpSp>
      <p:sp>
        <p:nvSpPr>
          <p:cNvPr id="6" name="Freeform 6"/>
          <p:cNvSpPr/>
          <p:nvPr/>
        </p:nvSpPr>
        <p:spPr>
          <a:xfrm>
            <a:off x="10651764" y="5795002"/>
            <a:ext cx="3657600" cy="437782"/>
          </a:xfrm>
          <a:custGeom>
            <a:avLst/>
            <a:gdLst/>
            <a:ahLst/>
            <a:cxnLst/>
            <a:rect l="l" t="t" r="r" b="b"/>
            <a:pathLst>
              <a:path w="3657600" h="437782">
                <a:moveTo>
                  <a:pt x="0" y="0"/>
                </a:moveTo>
                <a:lnTo>
                  <a:pt x="3657600" y="0"/>
                </a:lnTo>
                <a:lnTo>
                  <a:pt x="3657600" y="437782"/>
                </a:lnTo>
                <a:lnTo>
                  <a:pt x="0" y="4377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0293358" y="1819167"/>
            <a:ext cx="7838879" cy="225099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 APPLICATION PROTOCOL</a:t>
            </a:r>
          </a:p>
        </p:txBody>
      </p:sp>
      <p:sp>
        <p:nvSpPr>
          <p:cNvPr id="8" name="TextBox 8"/>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2" name="TextBox 12"/>
          <p:cNvSpPr txBox="1"/>
          <p:nvPr/>
        </p:nvSpPr>
        <p:spPr>
          <a:xfrm>
            <a:off x="1235161" y="7407736"/>
            <a:ext cx="7901452" cy="586740"/>
          </a:xfrm>
          <a:prstGeom prst="rect">
            <a:avLst/>
          </a:prstGeom>
        </p:spPr>
        <p:txBody>
          <a:bodyPr lIns="0" tIns="0" rIns="0" bIns="0" rtlCol="0" anchor="t">
            <a:spAutoFit/>
          </a:bodyPr>
          <a:lstStyle/>
          <a:p>
            <a:pPr algn="l">
              <a:lnSpc>
                <a:spcPts val="2339"/>
              </a:lnSpc>
            </a:pPr>
            <a:r>
              <a:rPr lang="en-US" sz="1799" spc="-53">
                <a:solidFill>
                  <a:srgbClr val="FFFFFF"/>
                </a:solidFill>
                <a:latin typeface="Open Sauce"/>
                <a:ea typeface="Open Sauce"/>
                <a:cs typeface="Open Sauce"/>
                <a:sym typeface="Open Sauce"/>
              </a:rPr>
              <a:t>TCP chỉ cung cấp byte stream, vì vậy nhóm xây dựng một Protocol riêng để Client và Server hiểu cấu trúc dữ liệu.</a:t>
            </a:r>
          </a:p>
        </p:txBody>
      </p:sp>
      <p:sp>
        <p:nvSpPr>
          <p:cNvPr id="13" name="TextBox 13"/>
          <p:cNvSpPr txBox="1"/>
          <p:nvPr/>
        </p:nvSpPr>
        <p:spPr>
          <a:xfrm>
            <a:off x="10482883" y="7248669"/>
            <a:ext cx="7901452" cy="1472565"/>
          </a:xfrm>
          <a:prstGeom prst="rect">
            <a:avLst/>
          </a:prstGeom>
        </p:spPr>
        <p:txBody>
          <a:bodyPr lIns="0" tIns="0" rIns="0" bIns="0" rtlCol="0" anchor="t">
            <a:spAutoFit/>
          </a:bodyPr>
          <a:lstStyle/>
          <a:p>
            <a:pPr algn="l">
              <a:lnSpc>
                <a:spcPts val="2339"/>
              </a:lnSpc>
            </a:pPr>
            <a:r>
              <a:rPr lang="en-US" sz="1799" b="1" spc="-53">
                <a:solidFill>
                  <a:srgbClr val="FFFFFF"/>
                </a:solidFill>
                <a:latin typeface="Open Sauce Bold"/>
                <a:ea typeface="Open Sauce Bold"/>
                <a:cs typeface="Open Sauce Bold"/>
                <a:sym typeface="Open Sauce Bold"/>
              </a:rPr>
              <a:t>Protocol gồm:</a:t>
            </a:r>
          </a:p>
          <a:p>
            <a:pPr marL="388618" lvl="1" indent="-194309" algn="l">
              <a:lnSpc>
                <a:spcPts val="2339"/>
              </a:lnSpc>
              <a:buAutoNum type="arabicPeriod"/>
            </a:pPr>
            <a:r>
              <a:rPr lang="en-US" sz="1799" b="1" spc="-53">
                <a:solidFill>
                  <a:srgbClr val="FFFFFF"/>
                </a:solidFill>
                <a:latin typeface="Open Sauce Bold"/>
                <a:ea typeface="Open Sauce Bold"/>
                <a:cs typeface="Open Sauce Bold"/>
                <a:sym typeface="Open Sauce Bold"/>
              </a:rPr>
              <a:t>Header</a:t>
            </a:r>
          </a:p>
          <a:p>
            <a:pPr marL="388618" lvl="1" indent="-194309" algn="l">
              <a:lnSpc>
                <a:spcPts val="2339"/>
              </a:lnSpc>
              <a:buAutoNum type="arabicPeriod"/>
            </a:pPr>
            <a:r>
              <a:rPr lang="en-US" sz="1799" b="1" spc="-53">
                <a:solidFill>
                  <a:srgbClr val="FFFFFF"/>
                </a:solidFill>
                <a:latin typeface="Open Sauce Bold"/>
                <a:ea typeface="Open Sauce Bold"/>
                <a:cs typeface="Open Sauce Bold"/>
                <a:sym typeface="Open Sauce Bold"/>
              </a:rPr>
              <a:t>Dữ liệu file</a:t>
            </a:r>
          </a:p>
          <a:p>
            <a:pPr marL="388618" lvl="1" indent="-194309" algn="l">
              <a:lnSpc>
                <a:spcPts val="2339"/>
              </a:lnSpc>
              <a:buAutoNum type="arabicPeriod"/>
            </a:pPr>
            <a:r>
              <a:rPr lang="en-US" sz="1799" b="1" spc="-53">
                <a:solidFill>
                  <a:srgbClr val="FFFFFF"/>
                </a:solidFill>
                <a:latin typeface="Open Sauce Bold"/>
                <a:ea typeface="Open Sauce Bold"/>
                <a:cs typeface="Open Sauce Bold"/>
                <a:sym typeface="Open Sauce Bold"/>
              </a:rPr>
              <a:t>Response</a:t>
            </a:r>
          </a:p>
          <a:p>
            <a:pPr algn="l">
              <a:lnSpc>
                <a:spcPts val="2339"/>
              </a:lnSpc>
            </a:pPr>
            <a:endParaRPr lang="en-US" sz="1799" b="1" spc="-53">
              <a:solidFill>
                <a:srgbClr val="FFFFFF"/>
              </a:solidFill>
              <a:latin typeface="Open Sauce Bold"/>
              <a:ea typeface="Open Sauce Bold"/>
              <a:cs typeface="Open Sauce Bold"/>
              <a:sym typeface="Open Sauce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5507616" y="2617287"/>
            <a:ext cx="11475342" cy="2526213"/>
            <a:chOff x="0" y="0"/>
            <a:chExt cx="2434392" cy="535914"/>
          </a:xfrm>
        </p:grpSpPr>
        <p:sp>
          <p:nvSpPr>
            <p:cNvPr id="5" name="Freeform 5"/>
            <p:cNvSpPr/>
            <p:nvPr/>
          </p:nvSpPr>
          <p:spPr>
            <a:xfrm>
              <a:off x="0" y="0"/>
              <a:ext cx="2434392" cy="535914"/>
            </a:xfrm>
            <a:custGeom>
              <a:avLst/>
              <a:gdLst/>
              <a:ahLst/>
              <a:cxnLst/>
              <a:rect l="l" t="t" r="r" b="b"/>
              <a:pathLst>
                <a:path w="2434392" h="535914">
                  <a:moveTo>
                    <a:pt x="0" y="0"/>
                  </a:moveTo>
                  <a:lnTo>
                    <a:pt x="2434392" y="0"/>
                  </a:lnTo>
                  <a:lnTo>
                    <a:pt x="2434392" y="535914"/>
                  </a:lnTo>
                  <a:lnTo>
                    <a:pt x="0" y="535914"/>
                  </a:lnTo>
                  <a:close/>
                </a:path>
              </a:pathLst>
            </a:custGeom>
            <a:blipFill>
              <a:blip r:embed="rId5"/>
              <a:stretch>
                <a:fillRect l="-1073" r="-1073"/>
              </a:stretch>
            </a:blipFill>
          </p:spPr>
        </p:sp>
      </p:grpSp>
      <p:grpSp>
        <p:nvGrpSpPr>
          <p:cNvPr id="6" name="Group 6"/>
          <p:cNvGrpSpPr/>
          <p:nvPr/>
        </p:nvGrpSpPr>
        <p:grpSpPr>
          <a:xfrm>
            <a:off x="10002956" y="5286866"/>
            <a:ext cx="7224448" cy="4214699"/>
            <a:chOff x="0" y="0"/>
            <a:chExt cx="1133669" cy="661376"/>
          </a:xfrm>
        </p:grpSpPr>
        <p:sp>
          <p:nvSpPr>
            <p:cNvPr id="7" name="Freeform 7"/>
            <p:cNvSpPr/>
            <p:nvPr/>
          </p:nvSpPr>
          <p:spPr>
            <a:xfrm>
              <a:off x="0" y="0"/>
              <a:ext cx="1133669" cy="661376"/>
            </a:xfrm>
            <a:custGeom>
              <a:avLst/>
              <a:gdLst/>
              <a:ahLst/>
              <a:cxnLst/>
              <a:rect l="l" t="t" r="r" b="b"/>
              <a:pathLst>
                <a:path w="1133669" h="661376">
                  <a:moveTo>
                    <a:pt x="0" y="0"/>
                  </a:moveTo>
                  <a:lnTo>
                    <a:pt x="1133669" y="0"/>
                  </a:lnTo>
                  <a:lnTo>
                    <a:pt x="1133669" y="661376"/>
                  </a:lnTo>
                  <a:lnTo>
                    <a:pt x="0" y="661376"/>
                  </a:lnTo>
                  <a:close/>
                </a:path>
              </a:pathLst>
            </a:custGeom>
            <a:blipFill>
              <a:blip r:embed="rId6"/>
              <a:stretch>
                <a:fillRect l="-5" r="-5"/>
              </a:stretch>
            </a:blipFill>
          </p:spPr>
        </p:sp>
      </p:grpSp>
      <p:sp>
        <p:nvSpPr>
          <p:cNvPr id="8" name="Freeform 8"/>
          <p:cNvSpPr/>
          <p:nvPr/>
        </p:nvSpPr>
        <p:spPr>
          <a:xfrm>
            <a:off x="1028700" y="6129450"/>
            <a:ext cx="3657600" cy="470695"/>
          </a:xfrm>
          <a:custGeom>
            <a:avLst/>
            <a:gdLst/>
            <a:ahLst/>
            <a:cxnLst/>
            <a:rect l="l" t="t" r="r" b="b"/>
            <a:pathLst>
              <a:path w="3657600" h="470695">
                <a:moveTo>
                  <a:pt x="0" y="0"/>
                </a:moveTo>
                <a:lnTo>
                  <a:pt x="3657600" y="0"/>
                </a:lnTo>
                <a:lnTo>
                  <a:pt x="3657600" y="470694"/>
                </a:lnTo>
                <a:lnTo>
                  <a:pt x="0" y="4706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329470" y="2521518"/>
            <a:ext cx="11889085" cy="84129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HEADER</a:t>
            </a:r>
          </a:p>
        </p:txBody>
      </p:sp>
      <p:sp>
        <p:nvSpPr>
          <p:cNvPr id="10" name="TextBox 10"/>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1" name="TextBox 11"/>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2" name="TextBox 12"/>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3" name="TextBox 13"/>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4" name="TextBox 14"/>
          <p:cNvSpPr txBox="1"/>
          <p:nvPr/>
        </p:nvSpPr>
        <p:spPr>
          <a:xfrm>
            <a:off x="1004154" y="7070061"/>
            <a:ext cx="3706692" cy="1937397"/>
          </a:xfrm>
          <a:prstGeom prst="rect">
            <a:avLst/>
          </a:prstGeom>
        </p:spPr>
        <p:txBody>
          <a:bodyPr lIns="0" tIns="0" rIns="0" bIns="0" rtlCol="0" anchor="t">
            <a:spAutoFit/>
          </a:bodyPr>
          <a:lstStyle/>
          <a:p>
            <a:pPr algn="l">
              <a:lnSpc>
                <a:spcPts val="3173"/>
              </a:lnSpc>
            </a:pPr>
            <a:r>
              <a:rPr lang="en-US" sz="2267" b="1" spc="-68">
                <a:solidFill>
                  <a:srgbClr val="5CE1E6"/>
                </a:solidFill>
                <a:latin typeface="Open Sauce Bold"/>
                <a:ea typeface="Open Sauce Bold"/>
                <a:cs typeface="Open Sauce Bold"/>
                <a:sym typeface="Open Sauce Bold"/>
              </a:rPr>
              <a:t>Ý nghĩa:</a:t>
            </a:r>
          </a:p>
          <a:p>
            <a:pPr marL="489446" lvl="1" indent="-244723" algn="l">
              <a:lnSpc>
                <a:spcPts val="3173"/>
              </a:lnSpc>
              <a:buFont typeface="Arial"/>
              <a:buChar char="•"/>
            </a:pPr>
            <a:r>
              <a:rPr lang="en-US" sz="2267" b="1" spc="-68">
                <a:solidFill>
                  <a:srgbClr val="5CE1E6"/>
                </a:solidFill>
                <a:latin typeface="Open Sauce Bold"/>
                <a:ea typeface="Open Sauce Bold"/>
                <a:cs typeface="Open Sauce Bold"/>
                <a:sym typeface="Open Sauce Bold"/>
              </a:rPr>
              <a:t>H → độ dài tên file</a:t>
            </a:r>
          </a:p>
          <a:p>
            <a:pPr marL="489446" lvl="1" indent="-244723" algn="l">
              <a:lnSpc>
                <a:spcPts val="3173"/>
              </a:lnSpc>
              <a:buFont typeface="Arial"/>
              <a:buChar char="•"/>
            </a:pPr>
            <a:r>
              <a:rPr lang="en-US" sz="2267" b="1" spc="-68">
                <a:solidFill>
                  <a:srgbClr val="5CE1E6"/>
                </a:solidFill>
                <a:latin typeface="Open Sauce Bold"/>
                <a:ea typeface="Open Sauce Bold"/>
                <a:cs typeface="Open Sauce Bold"/>
                <a:sym typeface="Open Sauce Bold"/>
              </a:rPr>
              <a:t>s → tên file UTF-8</a:t>
            </a:r>
          </a:p>
          <a:p>
            <a:pPr marL="489446" lvl="1" indent="-244723" algn="l">
              <a:lnSpc>
                <a:spcPts val="3173"/>
              </a:lnSpc>
              <a:buFont typeface="Arial"/>
              <a:buChar char="•"/>
            </a:pPr>
            <a:r>
              <a:rPr lang="en-US" sz="2267" b="1" spc="-68">
                <a:solidFill>
                  <a:srgbClr val="5CE1E6"/>
                </a:solidFill>
                <a:latin typeface="Open Sauce Bold"/>
                <a:ea typeface="Open Sauce Bold"/>
                <a:cs typeface="Open Sauce Bold"/>
                <a:sym typeface="Open Sauce Bold"/>
              </a:rPr>
              <a:t>Q → kích thước file</a:t>
            </a:r>
          </a:p>
          <a:p>
            <a:pPr algn="l">
              <a:lnSpc>
                <a:spcPts val="3173"/>
              </a:lnSpc>
              <a:spcBef>
                <a:spcPct val="0"/>
              </a:spcBef>
            </a:pPr>
            <a:endParaRPr lang="en-US" sz="2267" b="1" spc="-68">
              <a:solidFill>
                <a:srgbClr val="5CE1E6"/>
              </a:solidFill>
              <a:latin typeface="Open Sauce Bold"/>
              <a:ea typeface="Open Sauce Bold"/>
              <a:cs typeface="Open Sauce Bold"/>
              <a:sym typeface="Open Sauce Bold"/>
            </a:endParaRPr>
          </a:p>
        </p:txBody>
      </p:sp>
      <p:sp>
        <p:nvSpPr>
          <p:cNvPr id="15" name="TextBox 15"/>
          <p:cNvSpPr txBox="1"/>
          <p:nvPr/>
        </p:nvSpPr>
        <p:spPr>
          <a:xfrm>
            <a:off x="2991486" y="9486900"/>
            <a:ext cx="2745884" cy="264160"/>
          </a:xfrm>
          <a:prstGeom prst="rect">
            <a:avLst/>
          </a:prstGeom>
        </p:spPr>
        <p:txBody>
          <a:bodyPr lIns="0" tIns="0" rIns="0" bIns="0" rtlCol="0" anchor="t">
            <a:spAutoFit/>
          </a:bodyPr>
          <a:lstStyle/>
          <a:p>
            <a:pPr algn="l">
              <a:lnSpc>
                <a:spcPts val="2240"/>
              </a:lnSpc>
              <a:spcBef>
                <a:spcPct val="0"/>
              </a:spcBef>
            </a:pPr>
            <a:r>
              <a:rPr lang="en-US" sz="1600" spc="-48">
                <a:solidFill>
                  <a:srgbClr val="FFFFFF"/>
                </a:solidFill>
                <a:latin typeface="Open Sauce"/>
                <a:ea typeface="Open Sauce"/>
                <a:cs typeface="Open Sauce"/>
                <a:sym typeface="Open Sauce"/>
              </a:rPr>
              <a:t>oLưu file vào Server.</a:t>
            </a:r>
          </a:p>
        </p:txBody>
      </p:sp>
      <p:sp>
        <p:nvSpPr>
          <p:cNvPr id="16" name="TextBox 16"/>
          <p:cNvSpPr txBox="1"/>
          <p:nvPr/>
        </p:nvSpPr>
        <p:spPr>
          <a:xfrm>
            <a:off x="8947828" y="1790814"/>
            <a:ext cx="4594918" cy="956091"/>
          </a:xfrm>
          <a:prstGeom prst="rect">
            <a:avLst/>
          </a:prstGeom>
        </p:spPr>
        <p:txBody>
          <a:bodyPr lIns="0" tIns="0" rIns="0" bIns="0" rtlCol="0" anchor="t">
            <a:spAutoFit/>
          </a:bodyPr>
          <a:lstStyle/>
          <a:p>
            <a:pPr algn="l">
              <a:lnSpc>
                <a:spcPts val="3934"/>
              </a:lnSpc>
            </a:pPr>
            <a:r>
              <a:rPr lang="en-US" sz="2810" spc="-84">
                <a:solidFill>
                  <a:srgbClr val="5CE1E6"/>
                </a:solidFill>
                <a:latin typeface="Open Sauce"/>
                <a:ea typeface="Open Sauce"/>
                <a:cs typeface="Open Sauce"/>
                <a:sym typeface="Open Sauce"/>
              </a:rPr>
              <a:t>CẤU TRÚC HEADER</a:t>
            </a:r>
          </a:p>
          <a:p>
            <a:pPr algn="l">
              <a:lnSpc>
                <a:spcPts val="3934"/>
              </a:lnSpc>
              <a:spcBef>
                <a:spcPct val="0"/>
              </a:spcBef>
            </a:pPr>
            <a:endParaRPr lang="en-US" sz="2810" spc="-84">
              <a:solidFill>
                <a:srgbClr val="5CE1E6"/>
              </a:solidFill>
              <a:latin typeface="Open Sauce"/>
              <a:ea typeface="Open Sauce"/>
              <a:cs typeface="Open Sauce"/>
              <a:sym typeface="Open Sauc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69496" y="2743855"/>
            <a:ext cx="6681344" cy="5680541"/>
            <a:chOff x="0" y="0"/>
            <a:chExt cx="847729" cy="720747"/>
          </a:xfrm>
        </p:grpSpPr>
        <p:sp>
          <p:nvSpPr>
            <p:cNvPr id="5" name="Freeform 5"/>
            <p:cNvSpPr/>
            <p:nvPr/>
          </p:nvSpPr>
          <p:spPr>
            <a:xfrm>
              <a:off x="0" y="0"/>
              <a:ext cx="847729" cy="720747"/>
            </a:xfrm>
            <a:custGeom>
              <a:avLst/>
              <a:gdLst/>
              <a:ahLst/>
              <a:cxnLst/>
              <a:rect l="l" t="t" r="r" b="b"/>
              <a:pathLst>
                <a:path w="847729" h="720747">
                  <a:moveTo>
                    <a:pt x="0" y="0"/>
                  </a:moveTo>
                  <a:lnTo>
                    <a:pt x="847729" y="0"/>
                  </a:lnTo>
                  <a:lnTo>
                    <a:pt x="847729" y="720747"/>
                  </a:lnTo>
                  <a:lnTo>
                    <a:pt x="0" y="720747"/>
                  </a:lnTo>
                  <a:close/>
                </a:path>
              </a:pathLst>
            </a:custGeom>
            <a:blipFill>
              <a:blip r:embed="rId5"/>
              <a:stretch>
                <a:fillRect l="-2963" r="-2963"/>
              </a:stretch>
            </a:blipFill>
          </p:spPr>
        </p:sp>
      </p:grpSp>
      <p:grpSp>
        <p:nvGrpSpPr>
          <p:cNvPr id="6" name="Group 6"/>
          <p:cNvGrpSpPr/>
          <p:nvPr/>
        </p:nvGrpSpPr>
        <p:grpSpPr>
          <a:xfrm>
            <a:off x="10913964" y="4150406"/>
            <a:ext cx="7039290" cy="5297914"/>
            <a:chOff x="0" y="0"/>
            <a:chExt cx="957650" cy="720747"/>
          </a:xfrm>
        </p:grpSpPr>
        <p:sp>
          <p:nvSpPr>
            <p:cNvPr id="7" name="Freeform 7"/>
            <p:cNvSpPr/>
            <p:nvPr/>
          </p:nvSpPr>
          <p:spPr>
            <a:xfrm>
              <a:off x="0" y="0"/>
              <a:ext cx="957650" cy="720747"/>
            </a:xfrm>
            <a:custGeom>
              <a:avLst/>
              <a:gdLst/>
              <a:ahLst/>
              <a:cxnLst/>
              <a:rect l="l" t="t" r="r" b="b"/>
              <a:pathLst>
                <a:path w="957650" h="720747">
                  <a:moveTo>
                    <a:pt x="0" y="0"/>
                  </a:moveTo>
                  <a:lnTo>
                    <a:pt x="957650" y="0"/>
                  </a:lnTo>
                  <a:lnTo>
                    <a:pt x="957650" y="720747"/>
                  </a:lnTo>
                  <a:lnTo>
                    <a:pt x="0" y="720747"/>
                  </a:lnTo>
                  <a:close/>
                </a:path>
              </a:pathLst>
            </a:custGeom>
            <a:blipFill>
              <a:blip r:embed="rId6"/>
              <a:stretch>
                <a:fillRect t="-1433" b="-1433"/>
              </a:stretch>
            </a:blipFill>
          </p:spPr>
        </p:sp>
      </p:grpSp>
      <p:sp>
        <p:nvSpPr>
          <p:cNvPr id="8" name="TextBox 8"/>
          <p:cNvSpPr txBox="1"/>
          <p:nvPr/>
        </p:nvSpPr>
        <p:spPr>
          <a:xfrm>
            <a:off x="669496" y="2083643"/>
            <a:ext cx="5043991" cy="46661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Times New Roman"/>
                <a:ea typeface="Times New Roman"/>
                <a:cs typeface="Times New Roman"/>
                <a:sym typeface="Times New Roman"/>
              </a:rPr>
              <a:t>CHIA FILE THÀNH CÁC CHUNK</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2" name="TextBox 12"/>
          <p:cNvSpPr txBox="1"/>
          <p:nvPr/>
        </p:nvSpPr>
        <p:spPr>
          <a:xfrm>
            <a:off x="10913964" y="2283614"/>
            <a:ext cx="5043991" cy="1866792"/>
          </a:xfrm>
          <a:prstGeom prst="rect">
            <a:avLst/>
          </a:prstGeom>
        </p:spPr>
        <p:txBody>
          <a:bodyPr lIns="0" tIns="0" rIns="0" bIns="0" rtlCol="0" anchor="t">
            <a:spAutoFit/>
          </a:bodyPr>
          <a:lstStyle/>
          <a:p>
            <a:pPr algn="l">
              <a:lnSpc>
                <a:spcPts val="3680"/>
              </a:lnSpc>
            </a:pPr>
            <a:r>
              <a:rPr lang="en-US" sz="2629">
                <a:solidFill>
                  <a:srgbClr val="FFFFFF"/>
                </a:solidFill>
                <a:latin typeface="Times New Roman"/>
                <a:ea typeface="Times New Roman"/>
                <a:cs typeface="Times New Roman"/>
                <a:sym typeface="Times New Roman"/>
              </a:rPr>
              <a:t>Kết quả:</a:t>
            </a:r>
          </a:p>
          <a:p>
            <a:pPr algn="l">
              <a:lnSpc>
                <a:spcPts val="3680"/>
              </a:lnSpc>
            </a:pPr>
            <a:r>
              <a:rPr lang="en-US" sz="2629">
                <a:solidFill>
                  <a:srgbClr val="FFFFFF"/>
                </a:solidFill>
                <a:latin typeface="Times New Roman"/>
                <a:ea typeface="Times New Roman"/>
                <a:cs typeface="Times New Roman"/>
                <a:sym typeface="Times New Roman"/>
              </a:rPr>
              <a:t>Đảm bảo Server nhận đủ số byte cần thiết trước khi xử lý tiếp.</a:t>
            </a:r>
          </a:p>
          <a:p>
            <a:pPr algn="l">
              <a:lnSpc>
                <a:spcPts val="3680"/>
              </a:lnSpc>
              <a:spcBef>
                <a:spcPct val="0"/>
              </a:spcBef>
            </a:pPr>
            <a:endParaRPr lang="en-US" sz="2629">
              <a:solidFill>
                <a:srgbClr val="FFFFFF"/>
              </a:solidFill>
              <a:latin typeface="Times New Roman"/>
              <a:ea typeface="Times New Roman"/>
              <a:cs typeface="Times New Roman"/>
              <a:sym typeface="Times New Roman"/>
            </a:endParaRPr>
          </a:p>
        </p:txBody>
      </p:sp>
      <p:sp>
        <p:nvSpPr>
          <p:cNvPr id="13" name="TextBox 13"/>
          <p:cNvSpPr txBox="1"/>
          <p:nvPr/>
        </p:nvSpPr>
        <p:spPr>
          <a:xfrm>
            <a:off x="1546197" y="892491"/>
            <a:ext cx="6920445" cy="1067327"/>
          </a:xfrm>
          <a:prstGeom prst="rect">
            <a:avLst/>
          </a:prstGeom>
        </p:spPr>
        <p:txBody>
          <a:bodyPr lIns="0" tIns="0" rIns="0" bIns="0" rtlCol="0" anchor="t">
            <a:spAutoFit/>
          </a:bodyPr>
          <a:lstStyle/>
          <a:p>
            <a:pPr algn="l">
              <a:lnSpc>
                <a:spcPts val="4660"/>
              </a:lnSpc>
            </a:pPr>
            <a:r>
              <a:rPr lang="en-US" sz="3329">
                <a:solidFill>
                  <a:srgbClr val="FFFFFF"/>
                </a:solidFill>
                <a:latin typeface="Times New Roman"/>
                <a:ea typeface="Times New Roman"/>
                <a:cs typeface="Times New Roman"/>
                <a:sym typeface="Times New Roman"/>
              </a:rPr>
              <a:t>CHUNKING &amp; recv_exact()</a:t>
            </a:r>
          </a:p>
          <a:p>
            <a:pPr algn="l">
              <a:lnSpc>
                <a:spcPts val="3680"/>
              </a:lnSpc>
              <a:spcBef>
                <a:spcPct val="0"/>
              </a:spcBef>
            </a:pPr>
            <a:endParaRPr lang="en-US" sz="3329">
              <a:solidFill>
                <a:srgbClr val="FFFFFF"/>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53804" y="2749404"/>
            <a:ext cx="14696572" cy="3694063"/>
            <a:chOff x="0" y="0"/>
            <a:chExt cx="1629436" cy="409568"/>
          </a:xfrm>
        </p:grpSpPr>
        <p:sp>
          <p:nvSpPr>
            <p:cNvPr id="5" name="Freeform 5"/>
            <p:cNvSpPr/>
            <p:nvPr/>
          </p:nvSpPr>
          <p:spPr>
            <a:xfrm>
              <a:off x="0" y="0"/>
              <a:ext cx="1629436" cy="409568"/>
            </a:xfrm>
            <a:custGeom>
              <a:avLst/>
              <a:gdLst/>
              <a:ahLst/>
              <a:cxnLst/>
              <a:rect l="l" t="t" r="r" b="b"/>
              <a:pathLst>
                <a:path w="1629436" h="409568">
                  <a:moveTo>
                    <a:pt x="0" y="0"/>
                  </a:moveTo>
                  <a:lnTo>
                    <a:pt x="1629436" y="0"/>
                  </a:lnTo>
                  <a:lnTo>
                    <a:pt x="1629436" y="409568"/>
                  </a:lnTo>
                  <a:lnTo>
                    <a:pt x="0" y="409568"/>
                  </a:lnTo>
                  <a:close/>
                </a:path>
              </a:pathLst>
            </a:custGeom>
            <a:blipFill>
              <a:blip r:embed="rId5"/>
              <a:stretch>
                <a:fillRect l="-635" r="-635"/>
              </a:stretch>
            </a:blipFill>
          </p:spPr>
        </p:sp>
      </p:grpSp>
      <p:sp>
        <p:nvSpPr>
          <p:cNvPr id="7" name="TextBox 7"/>
          <p:cNvSpPr txBox="1"/>
          <p:nvPr/>
        </p:nvSpPr>
        <p:spPr>
          <a:xfrm>
            <a:off x="1546197" y="1115347"/>
            <a:ext cx="9360394" cy="1049059"/>
          </a:xfrm>
          <a:prstGeom prst="rect">
            <a:avLst/>
          </a:prstGeom>
        </p:spPr>
        <p:txBody>
          <a:bodyPr lIns="0" tIns="0" rIns="0" bIns="0" rtlCol="0" anchor="t">
            <a:spAutoFit/>
          </a:bodyPr>
          <a:lstStyle/>
          <a:p>
            <a:pPr algn="l">
              <a:lnSpc>
                <a:spcPts val="3786"/>
              </a:lnSpc>
            </a:pPr>
            <a:r>
              <a:rPr lang="en-US" sz="5487">
                <a:solidFill>
                  <a:srgbClr val="5CE1E6"/>
                </a:solidFill>
                <a:latin typeface="RQND Pro UltraWide"/>
                <a:ea typeface="RQND Pro UltraWide"/>
                <a:cs typeface="RQND Pro UltraWide"/>
                <a:sym typeface="RQND Pro UltraWide"/>
              </a:rPr>
              <a:t> SYSTEM CONFIG &amp; UTILITY</a:t>
            </a:r>
          </a:p>
        </p:txBody>
      </p:sp>
      <p:sp>
        <p:nvSpPr>
          <p:cNvPr id="8" name="TextBox 8"/>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9" name="TextBox 9"/>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0" name="TextBox 10"/>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1" name="TextBox 11"/>
          <p:cNvSpPr txBox="1"/>
          <p:nvPr/>
        </p:nvSpPr>
        <p:spPr>
          <a:xfrm>
            <a:off x="2812876" y="7234044"/>
            <a:ext cx="9086371" cy="1350982"/>
          </a:xfrm>
          <a:prstGeom prst="rect">
            <a:avLst/>
          </a:prstGeom>
        </p:spPr>
        <p:txBody>
          <a:bodyPr lIns="0" tIns="0" rIns="0" bIns="0" rtlCol="0" anchor="t">
            <a:spAutoFit/>
          </a:bodyPr>
          <a:lstStyle/>
          <a:p>
            <a:pPr algn="l">
              <a:lnSpc>
                <a:spcPts val="2690"/>
              </a:lnSpc>
            </a:pPr>
            <a:r>
              <a:rPr lang="en-US" sz="2069" b="1" spc="-62" dirty="0" err="1">
                <a:solidFill>
                  <a:srgbClr val="FFFFFF"/>
                </a:solidFill>
                <a:latin typeface="Open Sauce Bold"/>
                <a:ea typeface="Open Sauce Bold"/>
                <a:cs typeface="Open Sauce Bold"/>
                <a:sym typeface="Open Sauce Bold"/>
              </a:rPr>
              <a:t>Giải</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thích</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từng</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thông</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số</a:t>
            </a:r>
            <a:r>
              <a:rPr lang="en-US" sz="2069" b="1" spc="-62" dirty="0">
                <a:solidFill>
                  <a:srgbClr val="FFFFFF"/>
                </a:solidFill>
                <a:latin typeface="Open Sauce Bold"/>
                <a:ea typeface="Open Sauce Bold"/>
                <a:cs typeface="Open Sauce Bold"/>
                <a:sym typeface="Open Sauce Bold"/>
              </a:rPr>
              <a:t>.</a:t>
            </a:r>
          </a:p>
          <a:p>
            <a:pPr algn="l">
              <a:lnSpc>
                <a:spcPts val="2690"/>
              </a:lnSpc>
            </a:pPr>
            <a:r>
              <a:rPr lang="en-US" sz="2069" b="1" spc="-62" dirty="0">
                <a:solidFill>
                  <a:srgbClr val="FFFFFF"/>
                </a:solidFill>
                <a:latin typeface="Open Sauce Bold"/>
                <a:ea typeface="Open Sauce Bold"/>
                <a:cs typeface="Open Sauce Bold"/>
                <a:sym typeface="Open Sauce Bold"/>
              </a:rPr>
              <a:t>Báo </a:t>
            </a:r>
            <a:r>
              <a:rPr lang="en-US" sz="2069" b="1" spc="-62" dirty="0" err="1">
                <a:solidFill>
                  <a:srgbClr val="FFFFFF"/>
                </a:solidFill>
                <a:latin typeface="Open Sauce Bold"/>
                <a:ea typeface="Open Sauce Bold"/>
                <a:cs typeface="Open Sauce Bold"/>
                <a:sym typeface="Open Sauce Bold"/>
              </a:rPr>
              <a:t>cáo</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xác</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định</a:t>
            </a:r>
            <a:r>
              <a:rPr lang="en-US" sz="2069" b="1" spc="-62" dirty="0">
                <a:solidFill>
                  <a:srgbClr val="FFFFFF"/>
                </a:solidFill>
                <a:latin typeface="Open Sauce Bold"/>
                <a:ea typeface="Open Sauce Bold"/>
                <a:cs typeface="Open Sauce Bold"/>
                <a:sym typeface="Open Sauce Bold"/>
              </a:rPr>
              <a:t> config.py </a:t>
            </a:r>
            <a:r>
              <a:rPr lang="en-US" sz="2069" b="1" spc="-62" dirty="0" err="1">
                <a:solidFill>
                  <a:srgbClr val="FFFFFF"/>
                </a:solidFill>
                <a:latin typeface="Open Sauce Bold"/>
                <a:ea typeface="Open Sauce Bold"/>
                <a:cs typeface="Open Sauce Bold"/>
                <a:sym typeface="Open Sauce Bold"/>
              </a:rPr>
              <a:t>chứa</a:t>
            </a:r>
            <a:r>
              <a:rPr lang="en-US" sz="2069" b="1" spc="-62" dirty="0">
                <a:solidFill>
                  <a:srgbClr val="FFFFFF"/>
                </a:solidFill>
                <a:latin typeface="Open Sauce Bold"/>
                <a:ea typeface="Open Sauce Bold"/>
                <a:cs typeface="Open Sauce Bold"/>
                <a:sym typeface="Open Sauce Bold"/>
              </a:rPr>
              <a:t> HOST, PORT, BUFFER_SIZE, UPLOAD_DIR </a:t>
            </a:r>
            <a:r>
              <a:rPr lang="en-US" sz="2069" b="1" spc="-62" dirty="0" err="1">
                <a:solidFill>
                  <a:srgbClr val="FFFFFF"/>
                </a:solidFill>
                <a:latin typeface="Open Sauce Bold"/>
                <a:ea typeface="Open Sauce Bold"/>
                <a:cs typeface="Open Sauce Bold"/>
                <a:sym typeface="Open Sauce Bold"/>
              </a:rPr>
              <a:t>và</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giới</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hạn</a:t>
            </a:r>
            <a:r>
              <a:rPr lang="en-US" sz="2069" b="1" spc="-62" dirty="0">
                <a:solidFill>
                  <a:srgbClr val="FFFFFF"/>
                </a:solidFill>
                <a:latin typeface="Open Sauce Bold"/>
                <a:ea typeface="Open Sauce Bold"/>
                <a:cs typeface="Open Sauce Bold"/>
                <a:sym typeface="Open Sauce Bold"/>
              </a:rPr>
              <a:t> upload </a:t>
            </a:r>
            <a:r>
              <a:rPr lang="en-US" sz="2069" b="1" spc="-62" dirty="0" err="1">
                <a:solidFill>
                  <a:srgbClr val="FFFFFF"/>
                </a:solidFill>
                <a:latin typeface="Open Sauce Bold"/>
                <a:ea typeface="Open Sauce Bold"/>
                <a:cs typeface="Open Sauce Bold"/>
                <a:sym typeface="Open Sauce Bold"/>
              </a:rPr>
              <a:t>đồng</a:t>
            </a:r>
            <a:r>
              <a:rPr lang="en-US" sz="2069" b="1" spc="-62" dirty="0">
                <a:solidFill>
                  <a:srgbClr val="FFFFFF"/>
                </a:solidFill>
                <a:latin typeface="Open Sauce Bold"/>
                <a:ea typeface="Open Sauce Bold"/>
                <a:cs typeface="Open Sauce Bold"/>
                <a:sym typeface="Open Sauce Bold"/>
              </a:rPr>
              <a:t> </a:t>
            </a:r>
            <a:r>
              <a:rPr lang="en-US" sz="2069" b="1" spc="-62" dirty="0" err="1">
                <a:solidFill>
                  <a:srgbClr val="FFFFFF"/>
                </a:solidFill>
                <a:latin typeface="Open Sauce Bold"/>
                <a:ea typeface="Open Sauce Bold"/>
                <a:cs typeface="Open Sauce Bold"/>
                <a:sym typeface="Open Sauce Bold"/>
              </a:rPr>
              <a:t>thời</a:t>
            </a:r>
            <a:r>
              <a:rPr lang="en-US" sz="2069" b="1" spc="-62" dirty="0">
                <a:solidFill>
                  <a:srgbClr val="FFFFFF"/>
                </a:solidFill>
                <a:latin typeface="Open Sauce Bold"/>
                <a:ea typeface="Open Sauce Bold"/>
                <a:cs typeface="Open Sauce Bold"/>
                <a:sym typeface="Open Sauce Bold"/>
              </a:rPr>
              <a:t>.</a:t>
            </a:r>
          </a:p>
          <a:p>
            <a:pPr algn="l">
              <a:lnSpc>
                <a:spcPts val="2690"/>
              </a:lnSpc>
            </a:pPr>
            <a:endParaRPr lang="en-US" sz="2069" b="1" spc="-62" dirty="0">
              <a:solidFill>
                <a:srgbClr val="FFFFFF"/>
              </a:solidFill>
              <a:latin typeface="Open Sauce Bold"/>
              <a:ea typeface="Open Sauce Bold"/>
              <a:cs typeface="Open Sauce Bold"/>
              <a:sym typeface="Open Sauce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471822" y="1034409"/>
            <a:ext cx="8325947" cy="5791853"/>
            <a:chOff x="0" y="0"/>
            <a:chExt cx="1276185" cy="887764"/>
          </a:xfrm>
        </p:grpSpPr>
        <p:sp>
          <p:nvSpPr>
            <p:cNvPr id="4" name="Freeform 4"/>
            <p:cNvSpPr/>
            <p:nvPr/>
          </p:nvSpPr>
          <p:spPr>
            <a:xfrm>
              <a:off x="0" y="0"/>
              <a:ext cx="1276185" cy="887764"/>
            </a:xfrm>
            <a:custGeom>
              <a:avLst/>
              <a:gdLst/>
              <a:ahLst/>
              <a:cxnLst/>
              <a:rect l="l" t="t" r="r" b="b"/>
              <a:pathLst>
                <a:path w="1276185" h="887764">
                  <a:moveTo>
                    <a:pt x="0" y="0"/>
                  </a:moveTo>
                  <a:lnTo>
                    <a:pt x="1276185" y="0"/>
                  </a:lnTo>
                  <a:lnTo>
                    <a:pt x="1276185" y="887764"/>
                  </a:lnTo>
                  <a:lnTo>
                    <a:pt x="0" y="887764"/>
                  </a:lnTo>
                  <a:close/>
                </a:path>
              </a:pathLst>
            </a:custGeom>
            <a:blipFill>
              <a:blip r:embed="rId3"/>
              <a:stretch>
                <a:fillRect t="-5319" b="-5319"/>
              </a:stretch>
            </a:blipFill>
          </p:spPr>
        </p:sp>
      </p:grpSp>
      <p:grpSp>
        <p:nvGrpSpPr>
          <p:cNvPr id="5" name="Group 5"/>
          <p:cNvGrpSpPr/>
          <p:nvPr/>
        </p:nvGrpSpPr>
        <p:grpSpPr>
          <a:xfrm>
            <a:off x="9082540" y="828729"/>
            <a:ext cx="8115300" cy="5997533"/>
            <a:chOff x="0" y="0"/>
            <a:chExt cx="1371794" cy="1013811"/>
          </a:xfrm>
        </p:grpSpPr>
        <p:sp>
          <p:nvSpPr>
            <p:cNvPr id="6" name="Freeform 6"/>
            <p:cNvSpPr/>
            <p:nvPr/>
          </p:nvSpPr>
          <p:spPr>
            <a:xfrm>
              <a:off x="0" y="0"/>
              <a:ext cx="1371794" cy="1013811"/>
            </a:xfrm>
            <a:custGeom>
              <a:avLst/>
              <a:gdLst/>
              <a:ahLst/>
              <a:cxnLst/>
              <a:rect l="l" t="t" r="r" b="b"/>
              <a:pathLst>
                <a:path w="1371794" h="1013811">
                  <a:moveTo>
                    <a:pt x="0" y="0"/>
                  </a:moveTo>
                  <a:lnTo>
                    <a:pt x="1371794" y="0"/>
                  </a:lnTo>
                  <a:lnTo>
                    <a:pt x="1371794" y="1013811"/>
                  </a:lnTo>
                  <a:lnTo>
                    <a:pt x="0" y="1013811"/>
                  </a:lnTo>
                  <a:close/>
                </a:path>
              </a:pathLst>
            </a:custGeom>
            <a:blipFill>
              <a:blip r:embed="rId4"/>
              <a:stretch>
                <a:fillRect l="-15744" r="-15744"/>
              </a:stretch>
            </a:blipFill>
          </p:spPr>
        </p:sp>
      </p:grpSp>
      <p:sp>
        <p:nvSpPr>
          <p:cNvPr id="7" name="TextBox 7"/>
          <p:cNvSpPr txBox="1"/>
          <p:nvPr/>
        </p:nvSpPr>
        <p:spPr>
          <a:xfrm>
            <a:off x="645744" y="362112"/>
            <a:ext cx="2644981" cy="46661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Times New Roman"/>
                <a:ea typeface="Times New Roman"/>
                <a:cs typeface="Times New Roman"/>
                <a:sym typeface="Times New Roman"/>
              </a:rPr>
              <a:t>Các hàm:</a:t>
            </a:r>
          </a:p>
        </p:txBody>
      </p:sp>
      <p:sp>
        <p:nvSpPr>
          <p:cNvPr id="8" name="TextBox 8"/>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9" name="TextBox 9"/>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0" name="TextBox 10"/>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1" name="TextBox 11"/>
          <p:cNvSpPr txBox="1"/>
          <p:nvPr/>
        </p:nvSpPr>
        <p:spPr>
          <a:xfrm>
            <a:off x="10104804" y="362112"/>
            <a:ext cx="2644981" cy="46661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Times New Roman"/>
                <a:ea typeface="Times New Roman"/>
                <a:cs typeface="Times New Roman"/>
                <a:sym typeface="Times New Roman"/>
              </a:rPr>
              <a:t>Ví dụ:</a:t>
            </a:r>
          </a:p>
        </p:txBody>
      </p:sp>
      <p:sp>
        <p:nvSpPr>
          <p:cNvPr id="12" name="TextBox 12"/>
          <p:cNvSpPr txBox="1"/>
          <p:nvPr/>
        </p:nvSpPr>
        <p:spPr>
          <a:xfrm>
            <a:off x="645744" y="6969137"/>
            <a:ext cx="6445393" cy="2800242"/>
          </a:xfrm>
          <a:prstGeom prst="rect">
            <a:avLst/>
          </a:prstGeom>
        </p:spPr>
        <p:txBody>
          <a:bodyPr lIns="0" tIns="0" rIns="0" bIns="0" rtlCol="0" anchor="t">
            <a:spAutoFit/>
          </a:bodyPr>
          <a:lstStyle/>
          <a:p>
            <a:pPr algn="l">
              <a:lnSpc>
                <a:spcPts val="3680"/>
              </a:lnSpc>
            </a:pPr>
            <a:r>
              <a:rPr lang="en-US" sz="2629">
                <a:solidFill>
                  <a:srgbClr val="FFFFFF"/>
                </a:solidFill>
                <a:latin typeface="Times New Roman"/>
                <a:ea typeface="Times New Roman"/>
                <a:cs typeface="Times New Roman"/>
                <a:sym typeface="Times New Roman"/>
              </a:rPr>
              <a:t>FILE UTILITY</a:t>
            </a:r>
          </a:p>
          <a:p>
            <a:pPr marL="567656" lvl="1" indent="-283828" algn="l">
              <a:lnSpc>
                <a:spcPts val="3680"/>
              </a:lnSpc>
              <a:buFont typeface="Arial"/>
              <a:buChar char="•"/>
            </a:pPr>
            <a:r>
              <a:rPr lang="en-US" sz="2629">
                <a:solidFill>
                  <a:srgbClr val="FFFFFF"/>
                </a:solidFill>
                <a:latin typeface="Times New Roman"/>
                <a:ea typeface="Times New Roman"/>
                <a:cs typeface="Times New Roman"/>
                <a:sym typeface="Times New Roman"/>
              </a:rPr>
              <a:t>Tự động tạo thư mục lưu file.</a:t>
            </a:r>
          </a:p>
          <a:p>
            <a:pPr marL="567656" lvl="1" indent="-283828" algn="l">
              <a:lnSpc>
                <a:spcPts val="3680"/>
              </a:lnSpc>
              <a:buFont typeface="Arial"/>
              <a:buChar char="•"/>
            </a:pPr>
            <a:r>
              <a:rPr lang="en-US" sz="2629">
                <a:solidFill>
                  <a:srgbClr val="FFFFFF"/>
                </a:solidFill>
                <a:latin typeface="Times New Roman"/>
                <a:ea typeface="Times New Roman"/>
                <a:cs typeface="Times New Roman"/>
                <a:sym typeface="Times New Roman"/>
              </a:rPr>
              <a:t>Kiểm tra tên file đã tồn tại.</a:t>
            </a:r>
          </a:p>
          <a:p>
            <a:pPr marL="567656" lvl="1" indent="-283828" algn="l">
              <a:lnSpc>
                <a:spcPts val="3680"/>
              </a:lnSpc>
              <a:buFont typeface="Arial"/>
              <a:buChar char="•"/>
            </a:pPr>
            <a:r>
              <a:rPr lang="en-US" sz="2629">
                <a:solidFill>
                  <a:srgbClr val="FFFFFF"/>
                </a:solidFill>
                <a:latin typeface="Times New Roman"/>
                <a:ea typeface="Times New Roman"/>
                <a:cs typeface="Times New Roman"/>
                <a:sym typeface="Times New Roman"/>
              </a:rPr>
              <a:t>Tự động đổi tên khi bị trùng.</a:t>
            </a:r>
          </a:p>
          <a:p>
            <a:pPr marL="567656" lvl="1" indent="-283828" algn="l">
              <a:lnSpc>
                <a:spcPts val="3680"/>
              </a:lnSpc>
              <a:buFont typeface="Arial"/>
              <a:buChar char="•"/>
            </a:pPr>
            <a:r>
              <a:rPr lang="en-US" sz="2629">
                <a:solidFill>
                  <a:srgbClr val="FFFFFF"/>
                </a:solidFill>
                <a:latin typeface="Times New Roman"/>
                <a:ea typeface="Times New Roman"/>
                <a:cs typeface="Times New Roman"/>
                <a:sym typeface="Times New Roman"/>
              </a:rPr>
              <a:t>Đảm bảo không ghi đè file cũ.</a:t>
            </a:r>
          </a:p>
          <a:p>
            <a:pPr algn="l">
              <a:lnSpc>
                <a:spcPts val="3680"/>
              </a:lnSpc>
              <a:spcBef>
                <a:spcPct val="0"/>
              </a:spcBef>
            </a:pPr>
            <a:endParaRPr lang="en-US" sz="2629">
              <a:solidFill>
                <a:srgbClr val="FFFFF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221651" y="1688786"/>
            <a:ext cx="9643442" cy="7192150"/>
            <a:chOff x="0" y="0"/>
            <a:chExt cx="1221118" cy="910719"/>
          </a:xfrm>
        </p:grpSpPr>
        <p:sp>
          <p:nvSpPr>
            <p:cNvPr id="5" name="Freeform 5"/>
            <p:cNvSpPr/>
            <p:nvPr/>
          </p:nvSpPr>
          <p:spPr>
            <a:xfrm>
              <a:off x="0" y="0"/>
              <a:ext cx="1221118" cy="910719"/>
            </a:xfrm>
            <a:custGeom>
              <a:avLst/>
              <a:gdLst/>
              <a:ahLst/>
              <a:cxnLst/>
              <a:rect l="l" t="t" r="r" b="b"/>
              <a:pathLst>
                <a:path w="1221118" h="910719">
                  <a:moveTo>
                    <a:pt x="0" y="0"/>
                  </a:moveTo>
                  <a:lnTo>
                    <a:pt x="1221118" y="0"/>
                  </a:lnTo>
                  <a:lnTo>
                    <a:pt x="1221118" y="910719"/>
                  </a:lnTo>
                  <a:lnTo>
                    <a:pt x="0" y="910719"/>
                  </a:lnTo>
                  <a:close/>
                </a:path>
              </a:pathLst>
            </a:custGeom>
            <a:blipFill>
              <a:blip r:embed="rId5"/>
              <a:stretch>
                <a:fillRect t="-213" b="-213"/>
              </a:stretch>
            </a:blipFill>
          </p:spPr>
        </p:sp>
      </p:grpSp>
      <p:sp>
        <p:nvSpPr>
          <p:cNvPr id="6" name="Freeform 6"/>
          <p:cNvSpPr/>
          <p:nvPr/>
        </p:nvSpPr>
        <p:spPr>
          <a:xfrm>
            <a:off x="10651764" y="5284861"/>
            <a:ext cx="3657600" cy="437782"/>
          </a:xfrm>
          <a:custGeom>
            <a:avLst/>
            <a:gdLst/>
            <a:ahLst/>
            <a:cxnLst/>
            <a:rect l="l" t="t" r="r" b="b"/>
            <a:pathLst>
              <a:path w="3657600" h="437782">
                <a:moveTo>
                  <a:pt x="0" y="0"/>
                </a:moveTo>
                <a:lnTo>
                  <a:pt x="3657600" y="0"/>
                </a:lnTo>
                <a:lnTo>
                  <a:pt x="3657600" y="437783"/>
                </a:lnTo>
                <a:lnTo>
                  <a:pt x="0" y="4377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10651764" y="2847923"/>
            <a:ext cx="6651250" cy="1546149"/>
          </a:xfrm>
          <a:prstGeom prst="rect">
            <a:avLst/>
          </a:prstGeom>
        </p:spPr>
        <p:txBody>
          <a:bodyPr lIns="0" tIns="0" rIns="0" bIns="0" rtlCol="0" anchor="t">
            <a:spAutoFit/>
          </a:bodyPr>
          <a:lstStyle/>
          <a:p>
            <a:pPr algn="l">
              <a:lnSpc>
                <a:spcPts val="5613"/>
              </a:lnSpc>
            </a:pPr>
            <a:r>
              <a:rPr lang="en-US" sz="8136">
                <a:solidFill>
                  <a:srgbClr val="5CE1E6"/>
                </a:solidFill>
                <a:latin typeface="RQND Pro UltraWide"/>
                <a:ea typeface="RQND Pro UltraWide"/>
                <a:cs typeface="RQND Pro UltraWide"/>
                <a:sym typeface="RQND Pro UltraWide"/>
              </a:rPr>
              <a:t>PROGRESS &amp; LOGGING</a:t>
            </a:r>
          </a:p>
        </p:txBody>
      </p:sp>
      <p:sp>
        <p:nvSpPr>
          <p:cNvPr id="8" name="TextBox 8"/>
          <p:cNvSpPr txBox="1"/>
          <p:nvPr/>
        </p:nvSpPr>
        <p:spPr>
          <a:xfrm>
            <a:off x="1836310" y="981075"/>
            <a:ext cx="2644981" cy="447567"/>
          </a:xfrm>
          <a:prstGeom prst="rect">
            <a:avLst/>
          </a:prstGeom>
        </p:spPr>
        <p:txBody>
          <a:bodyPr lIns="0" tIns="0" rIns="0" bIns="0" rtlCol="0" anchor="t">
            <a:spAutoFit/>
          </a:bodyPr>
          <a:lstStyle/>
          <a:p>
            <a:pPr algn="l">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9" name="TextBox 9"/>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10" name="TextBox 10"/>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11" name="TextBox 11"/>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
        <p:nvSpPr>
          <p:cNvPr id="12" name="TextBox 12"/>
          <p:cNvSpPr txBox="1"/>
          <p:nvPr/>
        </p:nvSpPr>
        <p:spPr>
          <a:xfrm>
            <a:off x="10452739" y="5939215"/>
            <a:ext cx="7961741" cy="3785534"/>
          </a:xfrm>
          <a:prstGeom prst="rect">
            <a:avLst/>
          </a:prstGeom>
        </p:spPr>
        <p:txBody>
          <a:bodyPr lIns="0" tIns="0" rIns="0" bIns="0" rtlCol="0" anchor="t">
            <a:spAutoFit/>
          </a:bodyPr>
          <a:lstStyle/>
          <a:p>
            <a:pPr algn="l">
              <a:lnSpc>
                <a:spcPts val="2719"/>
              </a:lnSpc>
            </a:pPr>
            <a:r>
              <a:rPr lang="en-US" sz="2091" b="1" spc="-62">
                <a:solidFill>
                  <a:srgbClr val="FFFFFF"/>
                </a:solidFill>
                <a:latin typeface="Times New Roman Bold"/>
                <a:ea typeface="Times New Roman Bold"/>
                <a:cs typeface="Times New Roman Bold"/>
                <a:sym typeface="Times New Roman Bold"/>
              </a:rPr>
              <a:t>.</a:t>
            </a:r>
          </a:p>
          <a:p>
            <a:pPr algn="l">
              <a:lnSpc>
                <a:spcPts val="2289"/>
              </a:lnSpc>
            </a:pPr>
            <a:r>
              <a:rPr lang="en-US" sz="1761" spc="-52">
                <a:solidFill>
                  <a:srgbClr val="FFFFFF"/>
                </a:solidFill>
                <a:latin typeface="Times New Roman"/>
                <a:ea typeface="Times New Roman"/>
                <a:cs typeface="Times New Roman"/>
                <a:sym typeface="Times New Roman"/>
              </a:rPr>
              <a:t>01 — PROGRESS BAR</a:t>
            </a:r>
          </a:p>
          <a:p>
            <a:pPr algn="l">
              <a:lnSpc>
                <a:spcPts val="2289"/>
              </a:lnSpc>
            </a:pPr>
            <a:r>
              <a:rPr lang="en-US" sz="1761" spc="-52">
                <a:solidFill>
                  <a:srgbClr val="FFFFFF"/>
                </a:solidFill>
                <a:latin typeface="Times New Roman"/>
                <a:ea typeface="Times New Roman"/>
                <a:cs typeface="Times New Roman"/>
                <a:sym typeface="Times New Roman"/>
              </a:rPr>
              <a:t>Theo dõi % hoàn thành của từng file trong quá trình upload.</a:t>
            </a:r>
          </a:p>
          <a:p>
            <a:pPr algn="l">
              <a:lnSpc>
                <a:spcPts val="2289"/>
              </a:lnSpc>
            </a:pPr>
            <a:endParaRPr lang="en-US" sz="1761" spc="-52">
              <a:solidFill>
                <a:srgbClr val="FFFFFF"/>
              </a:solidFill>
              <a:latin typeface="Times New Roman"/>
              <a:ea typeface="Times New Roman"/>
              <a:cs typeface="Times New Roman"/>
              <a:sym typeface="Times New Roman"/>
            </a:endParaRPr>
          </a:p>
          <a:p>
            <a:pPr algn="l">
              <a:lnSpc>
                <a:spcPts val="2289"/>
              </a:lnSpc>
            </a:pPr>
            <a:r>
              <a:rPr lang="en-US" sz="1761" spc="-52">
                <a:solidFill>
                  <a:srgbClr val="FFFFFF"/>
                </a:solidFill>
                <a:latin typeface="Times New Roman"/>
                <a:ea typeface="Times New Roman"/>
                <a:cs typeface="Times New Roman"/>
                <a:sym typeface="Times New Roman"/>
              </a:rPr>
              <a:t>02 — TỐC ĐỘ UPLOAD</a:t>
            </a:r>
          </a:p>
          <a:p>
            <a:pPr algn="l">
              <a:lnSpc>
                <a:spcPts val="2289"/>
              </a:lnSpc>
            </a:pPr>
            <a:r>
              <a:rPr lang="en-US" sz="1761" spc="-52">
                <a:solidFill>
                  <a:srgbClr val="FFFFFF"/>
                </a:solidFill>
                <a:latin typeface="Times New Roman"/>
                <a:ea typeface="Times New Roman"/>
                <a:cs typeface="Times New Roman"/>
                <a:sym typeface="Times New Roman"/>
              </a:rPr>
              <a:t>Cập nhật tốc độ truyền dữ liệu theo từng file.</a:t>
            </a:r>
          </a:p>
          <a:p>
            <a:pPr algn="l">
              <a:lnSpc>
                <a:spcPts val="2289"/>
              </a:lnSpc>
            </a:pPr>
            <a:endParaRPr lang="en-US" sz="1761" spc="-52">
              <a:solidFill>
                <a:srgbClr val="FFFFFF"/>
              </a:solidFill>
              <a:latin typeface="Times New Roman"/>
              <a:ea typeface="Times New Roman"/>
              <a:cs typeface="Times New Roman"/>
              <a:sym typeface="Times New Roman"/>
            </a:endParaRPr>
          </a:p>
          <a:p>
            <a:pPr algn="l">
              <a:lnSpc>
                <a:spcPts val="2289"/>
              </a:lnSpc>
            </a:pPr>
            <a:r>
              <a:rPr lang="en-US" sz="1761" spc="-52">
                <a:solidFill>
                  <a:srgbClr val="FFFFFF"/>
                </a:solidFill>
                <a:latin typeface="Times New Roman"/>
                <a:ea typeface="Times New Roman"/>
                <a:cs typeface="Times New Roman"/>
                <a:sym typeface="Times New Roman"/>
              </a:rPr>
              <a:t>03 — LOG THỜI GIAN</a:t>
            </a:r>
          </a:p>
          <a:p>
            <a:pPr algn="l">
              <a:lnSpc>
                <a:spcPts val="2289"/>
              </a:lnSpc>
            </a:pPr>
            <a:r>
              <a:rPr lang="en-US" sz="1761" spc="-52">
                <a:solidFill>
                  <a:srgbClr val="FFFFFF"/>
                </a:solidFill>
                <a:latin typeface="Times New Roman"/>
                <a:ea typeface="Times New Roman"/>
                <a:cs typeface="Times New Roman"/>
                <a:sym typeface="Times New Roman"/>
              </a:rPr>
              <a:t>Ghi nhận thời gian và trạng thái xử lý của quá trình upload.</a:t>
            </a:r>
          </a:p>
          <a:p>
            <a:pPr algn="l">
              <a:lnSpc>
                <a:spcPts val="2289"/>
              </a:lnSpc>
            </a:pPr>
            <a:endParaRPr lang="en-US" sz="1761" spc="-52">
              <a:solidFill>
                <a:srgbClr val="FFFFFF"/>
              </a:solidFill>
              <a:latin typeface="Times New Roman"/>
              <a:ea typeface="Times New Roman"/>
              <a:cs typeface="Times New Roman"/>
              <a:sym typeface="Times New Roman"/>
            </a:endParaRPr>
          </a:p>
          <a:p>
            <a:pPr algn="l">
              <a:lnSpc>
                <a:spcPts val="2289"/>
              </a:lnSpc>
            </a:pPr>
            <a:r>
              <a:rPr lang="en-US" sz="1761" spc="-52">
                <a:solidFill>
                  <a:srgbClr val="FFFFFF"/>
                </a:solidFill>
                <a:latin typeface="Times New Roman"/>
                <a:ea typeface="Times New Roman"/>
                <a:cs typeface="Times New Roman"/>
                <a:sym typeface="Times New Roman"/>
              </a:rPr>
              <a:t>04 — TỰ ĐỘNG XỬ Lý</a:t>
            </a:r>
          </a:p>
          <a:p>
            <a:pPr algn="l">
              <a:lnSpc>
                <a:spcPts val="2289"/>
              </a:lnSpc>
            </a:pPr>
            <a:r>
              <a:rPr lang="en-US" sz="1761" spc="-52">
                <a:solidFill>
                  <a:srgbClr val="FFFFFF"/>
                </a:solidFill>
                <a:latin typeface="Times New Roman"/>
                <a:ea typeface="Times New Roman"/>
                <a:cs typeface="Times New Roman"/>
                <a:sym typeface="Times New Roman"/>
              </a:rPr>
              <a:t>Script tự động quét danh sách file và thực hiện upload theo quy trình.</a:t>
            </a:r>
          </a:p>
          <a:p>
            <a:pPr algn="l">
              <a:lnSpc>
                <a:spcPts val="2289"/>
              </a:lnSpc>
            </a:pPr>
            <a:endParaRPr lang="en-US" sz="1761" spc="-52">
              <a:solidFill>
                <a:srgbClr val="FFFFFF"/>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048215"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048215" y="5011251"/>
            <a:ext cx="7467601" cy="4247049"/>
            <a:chOff x="0" y="0"/>
            <a:chExt cx="1156927" cy="657979"/>
          </a:xfrm>
        </p:grpSpPr>
        <p:sp>
          <p:nvSpPr>
            <p:cNvPr id="5" name="Freeform 5"/>
            <p:cNvSpPr/>
            <p:nvPr/>
          </p:nvSpPr>
          <p:spPr>
            <a:xfrm>
              <a:off x="0" y="0"/>
              <a:ext cx="1156927" cy="657979"/>
            </a:xfrm>
            <a:custGeom>
              <a:avLst/>
              <a:gdLst/>
              <a:ahLst/>
              <a:cxnLst/>
              <a:rect l="l" t="t" r="r" b="b"/>
              <a:pathLst>
                <a:path w="1156927" h="657979">
                  <a:moveTo>
                    <a:pt x="0" y="0"/>
                  </a:moveTo>
                  <a:lnTo>
                    <a:pt x="1156927" y="0"/>
                  </a:lnTo>
                  <a:lnTo>
                    <a:pt x="1156927" y="657979"/>
                  </a:lnTo>
                  <a:lnTo>
                    <a:pt x="0" y="657979"/>
                  </a:lnTo>
                  <a:close/>
                </a:path>
              </a:pathLst>
            </a:custGeom>
            <a:blipFill>
              <a:blip r:embed="rId5"/>
              <a:stretch>
                <a:fillRect l="-55012" r="-25267" b="-23529"/>
              </a:stretch>
            </a:blipFill>
          </p:spPr>
        </p:sp>
      </p:gr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6"/>
            <a:stretch>
              <a:fillRect/>
            </a:stretch>
          </a:blipFill>
        </p:spPr>
      </p:sp>
      <p:sp>
        <p:nvSpPr>
          <p:cNvPr id="7" name="TextBox 7"/>
          <p:cNvSpPr txBox="1"/>
          <p:nvPr/>
        </p:nvSpPr>
        <p:spPr>
          <a:xfrm>
            <a:off x="13140190" y="996309"/>
            <a:ext cx="953643" cy="273685"/>
          </a:xfrm>
          <a:prstGeom prst="rect">
            <a:avLst/>
          </a:prstGeom>
        </p:spPr>
        <p:txBody>
          <a:bodyPr lIns="0" tIns="0" rIns="0" bIns="0" rtlCol="0" anchor="t">
            <a:spAutoFit/>
          </a:bodyPr>
          <a:lstStyle/>
          <a:p>
            <a:pPr algn="r">
              <a:lnSpc>
                <a:spcPts val="2239"/>
              </a:lnSpc>
              <a:spcBef>
                <a:spcPct val="0"/>
              </a:spcBef>
            </a:pPr>
            <a:r>
              <a:rPr lang="en-US" sz="1599" b="1" spc="-47">
                <a:solidFill>
                  <a:srgbClr val="5CE1E6"/>
                </a:solidFill>
                <a:latin typeface="Open Sauce Bold"/>
                <a:ea typeface="Open Sauce Bold"/>
                <a:cs typeface="Open Sauce Bold"/>
                <a:sym typeface="Open Sauce Bold"/>
              </a:rPr>
              <a:t>Home</a:t>
            </a:r>
          </a:p>
        </p:txBody>
      </p:sp>
      <p:sp>
        <p:nvSpPr>
          <p:cNvPr id="8" name="TextBox 8"/>
          <p:cNvSpPr txBox="1"/>
          <p:nvPr/>
        </p:nvSpPr>
        <p:spPr>
          <a:xfrm>
            <a:off x="14433609"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Services</a:t>
            </a:r>
          </a:p>
        </p:txBody>
      </p:sp>
      <p:sp>
        <p:nvSpPr>
          <p:cNvPr id="9" name="TextBox 9"/>
          <p:cNvSpPr txBox="1"/>
          <p:nvPr/>
        </p:nvSpPr>
        <p:spPr>
          <a:xfrm>
            <a:off x="16016343" y="996309"/>
            <a:ext cx="1242957" cy="273685"/>
          </a:xfrm>
          <a:prstGeom prst="rect">
            <a:avLst/>
          </a:prstGeom>
        </p:spPr>
        <p:txBody>
          <a:bodyPr lIns="0" tIns="0" rIns="0" bIns="0" rtlCol="0" anchor="t">
            <a:spAutoFit/>
          </a:bodyPr>
          <a:lstStyle/>
          <a:p>
            <a:pPr algn="r">
              <a:lnSpc>
                <a:spcPts val="2239"/>
              </a:lnSpc>
              <a:spcBef>
                <a:spcPct val="0"/>
              </a:spcBef>
            </a:pPr>
            <a:r>
              <a:rPr lang="en-US" sz="1599" spc="-47">
                <a:solidFill>
                  <a:srgbClr val="FFFFFF"/>
                </a:solidFill>
                <a:latin typeface="Open Sauce"/>
                <a:ea typeface="Open Sauce"/>
                <a:cs typeface="Open Sauce"/>
                <a:sym typeface="Open Sauce"/>
              </a:rPr>
              <a:t>About 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231347" y="4102202"/>
            <a:ext cx="5524882" cy="2082597"/>
          </a:xfrm>
          <a:custGeom>
            <a:avLst/>
            <a:gdLst/>
            <a:ahLst/>
            <a:cxnLst/>
            <a:rect l="l" t="t" r="r" b="b"/>
            <a:pathLst>
              <a:path w="5524882" h="2082597">
                <a:moveTo>
                  <a:pt x="0" y="0"/>
                </a:moveTo>
                <a:lnTo>
                  <a:pt x="5524882" y="0"/>
                </a:lnTo>
                <a:lnTo>
                  <a:pt x="5524882" y="2082596"/>
                </a:lnTo>
                <a:lnTo>
                  <a:pt x="0" y="2082596"/>
                </a:lnTo>
                <a:lnTo>
                  <a:pt x="0" y="0"/>
                </a:lnTo>
                <a:close/>
              </a:path>
            </a:pathLst>
          </a:custGeom>
          <a:blipFill>
            <a:blip r:embed="rId3">
              <a:extLst>
                <a:ext uri="{96DAC541-7B7A-43D3-8B79-37D633B846F1}">
                  <asvg:svgBlip xmlns:asvg="http://schemas.microsoft.com/office/drawing/2016/SVG/main" r:embed="rId4"/>
                </a:ext>
              </a:extLst>
            </a:blip>
            <a:stretch>
              <a:fillRect t="-165288"/>
            </a:stretch>
          </a:blipFill>
        </p:spPr>
      </p:sp>
      <p:sp>
        <p:nvSpPr>
          <p:cNvPr id="4" name="Freeform 4"/>
          <p:cNvSpPr/>
          <p:nvPr/>
        </p:nvSpPr>
        <p:spPr>
          <a:xfrm flipH="1">
            <a:off x="12994465" y="4102202"/>
            <a:ext cx="5524882" cy="2082597"/>
          </a:xfrm>
          <a:custGeom>
            <a:avLst/>
            <a:gdLst/>
            <a:ahLst/>
            <a:cxnLst/>
            <a:rect l="l" t="t" r="r" b="b"/>
            <a:pathLst>
              <a:path w="5524882" h="2082597">
                <a:moveTo>
                  <a:pt x="5524882" y="0"/>
                </a:moveTo>
                <a:lnTo>
                  <a:pt x="0" y="0"/>
                </a:lnTo>
                <a:lnTo>
                  <a:pt x="0" y="2082596"/>
                </a:lnTo>
                <a:lnTo>
                  <a:pt x="5524882" y="2082596"/>
                </a:lnTo>
                <a:lnTo>
                  <a:pt x="5524882" y="0"/>
                </a:lnTo>
                <a:close/>
              </a:path>
            </a:pathLst>
          </a:custGeom>
          <a:blipFill>
            <a:blip r:embed="rId3">
              <a:extLst>
                <a:ext uri="{96DAC541-7B7A-43D3-8B79-37D633B846F1}">
                  <asvg:svgBlip xmlns:asvg="http://schemas.microsoft.com/office/drawing/2016/SVG/main" r:embed="rId4"/>
                </a:ext>
              </a:extLst>
            </a:blip>
            <a:stretch>
              <a:fillRect t="-165288"/>
            </a:stretch>
          </a:blipFill>
        </p:spPr>
      </p:sp>
      <p:sp>
        <p:nvSpPr>
          <p:cNvPr id="5" name="Freeform 5"/>
          <p:cNvSpPr/>
          <p:nvPr/>
        </p:nvSpPr>
        <p:spPr>
          <a:xfrm>
            <a:off x="1028700" y="8820518"/>
            <a:ext cx="3657600" cy="437782"/>
          </a:xfrm>
          <a:custGeom>
            <a:avLst/>
            <a:gdLst/>
            <a:ahLst/>
            <a:cxnLst/>
            <a:rect l="l" t="t" r="r" b="b"/>
            <a:pathLst>
              <a:path w="3657600" h="437782">
                <a:moveTo>
                  <a:pt x="0" y="0"/>
                </a:moveTo>
                <a:lnTo>
                  <a:pt x="3657600" y="0"/>
                </a:lnTo>
                <a:lnTo>
                  <a:pt x="3657600" y="437782"/>
                </a:lnTo>
                <a:lnTo>
                  <a:pt x="0" y="4377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3601700" y="8820518"/>
            <a:ext cx="3657600" cy="437782"/>
          </a:xfrm>
          <a:custGeom>
            <a:avLst/>
            <a:gdLst/>
            <a:ahLst/>
            <a:cxnLst/>
            <a:rect l="l" t="t" r="r" b="b"/>
            <a:pathLst>
              <a:path w="3657600" h="437782">
                <a:moveTo>
                  <a:pt x="3657600" y="0"/>
                </a:moveTo>
                <a:lnTo>
                  <a:pt x="0" y="0"/>
                </a:lnTo>
                <a:lnTo>
                  <a:pt x="0" y="437782"/>
                </a:lnTo>
                <a:lnTo>
                  <a:pt x="3657600" y="437782"/>
                </a:lnTo>
                <a:lnTo>
                  <a:pt x="365760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8895009" y="1028700"/>
            <a:ext cx="497981" cy="482589"/>
          </a:xfrm>
          <a:custGeom>
            <a:avLst/>
            <a:gdLst/>
            <a:ahLst/>
            <a:cxnLst/>
            <a:rect l="l" t="t" r="r" b="b"/>
            <a:pathLst>
              <a:path w="497981" h="482589">
                <a:moveTo>
                  <a:pt x="0" y="0"/>
                </a:moveTo>
                <a:lnTo>
                  <a:pt x="497982" y="0"/>
                </a:lnTo>
                <a:lnTo>
                  <a:pt x="497982" y="482589"/>
                </a:lnTo>
                <a:lnTo>
                  <a:pt x="0" y="4825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028700" y="4964258"/>
            <a:ext cx="517497" cy="358484"/>
          </a:xfrm>
          <a:custGeom>
            <a:avLst/>
            <a:gdLst/>
            <a:ahLst/>
            <a:cxnLst/>
            <a:rect l="l" t="t" r="r" b="b"/>
            <a:pathLst>
              <a:path w="517497" h="358484">
                <a:moveTo>
                  <a:pt x="0" y="0"/>
                </a:moveTo>
                <a:lnTo>
                  <a:pt x="517497" y="0"/>
                </a:lnTo>
                <a:lnTo>
                  <a:pt x="517497" y="358484"/>
                </a:lnTo>
                <a:lnTo>
                  <a:pt x="0" y="3584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TextBox 9"/>
          <p:cNvSpPr txBox="1"/>
          <p:nvPr/>
        </p:nvSpPr>
        <p:spPr>
          <a:xfrm>
            <a:off x="2188433" y="4055050"/>
            <a:ext cx="13911134" cy="1957826"/>
          </a:xfrm>
          <a:prstGeom prst="rect">
            <a:avLst/>
          </a:prstGeom>
        </p:spPr>
        <p:txBody>
          <a:bodyPr lIns="0" tIns="0" rIns="0" bIns="0" rtlCol="0" anchor="t">
            <a:spAutoFit/>
          </a:bodyPr>
          <a:lstStyle/>
          <a:p>
            <a:pPr algn="ctr">
              <a:lnSpc>
                <a:spcPts val="15988"/>
              </a:lnSpc>
              <a:spcBef>
                <a:spcPct val="0"/>
              </a:spcBef>
            </a:pPr>
            <a:r>
              <a:rPr lang="en-US" sz="11420">
                <a:solidFill>
                  <a:srgbClr val="5CE1E6"/>
                </a:solidFill>
                <a:latin typeface="RQND Pro UltraWide"/>
                <a:ea typeface="RQND Pro UltraWide"/>
                <a:cs typeface="RQND Pro UltraWide"/>
                <a:sym typeface="RQND Pro UltraWide"/>
              </a:rPr>
              <a:t>THANK YOU</a:t>
            </a:r>
          </a:p>
        </p:txBody>
      </p:sp>
      <p:sp>
        <p:nvSpPr>
          <p:cNvPr id="10" name="TextBox 10"/>
          <p:cNvSpPr txBox="1"/>
          <p:nvPr/>
        </p:nvSpPr>
        <p:spPr>
          <a:xfrm>
            <a:off x="7821510" y="1609289"/>
            <a:ext cx="2644981" cy="434759"/>
          </a:xfrm>
          <a:prstGeom prst="rect">
            <a:avLst/>
          </a:prstGeom>
        </p:spPr>
        <p:txBody>
          <a:bodyPr lIns="0" tIns="0" rIns="0" bIns="0" rtlCol="0" anchor="t">
            <a:spAutoFit/>
          </a:bodyPr>
          <a:lstStyle/>
          <a:p>
            <a:pPr algn="ctr">
              <a:lnSpc>
                <a:spcPts val="3680"/>
              </a:lnSpc>
              <a:spcBef>
                <a:spcPct val="0"/>
              </a:spcBef>
            </a:pPr>
            <a:r>
              <a:rPr lang="en-US" sz="2629">
                <a:solidFill>
                  <a:srgbClr val="FFFFFF"/>
                </a:solidFill>
                <a:latin typeface="RQND Pro UltraWide"/>
                <a:ea typeface="RQND Pro UltraWide"/>
                <a:cs typeface="RQND Pro UltraWide"/>
                <a:sym typeface="RQND Pro UltraWide"/>
              </a:rPr>
              <a:t>borcelle</a:t>
            </a:r>
          </a:p>
        </p:txBody>
      </p:sp>
      <p:sp>
        <p:nvSpPr>
          <p:cNvPr id="11" name="TextBox 11"/>
          <p:cNvSpPr txBox="1"/>
          <p:nvPr/>
        </p:nvSpPr>
        <p:spPr>
          <a:xfrm>
            <a:off x="7518961" y="8984615"/>
            <a:ext cx="3250079" cy="273685"/>
          </a:xfrm>
          <a:prstGeom prst="rect">
            <a:avLst/>
          </a:prstGeom>
        </p:spPr>
        <p:txBody>
          <a:bodyPr lIns="0" tIns="0" rIns="0" bIns="0" rtlCol="0" anchor="t">
            <a:spAutoFit/>
          </a:bodyPr>
          <a:lstStyle/>
          <a:p>
            <a:pPr algn="ctr">
              <a:lnSpc>
                <a:spcPts val="2239"/>
              </a:lnSpc>
              <a:spcBef>
                <a:spcPct val="0"/>
              </a:spcBef>
            </a:pPr>
            <a:r>
              <a:rPr lang="en-US" sz="1599" spc="-47">
                <a:solidFill>
                  <a:srgbClr val="FFFFFF"/>
                </a:solidFill>
                <a:latin typeface="Open Sauce"/>
                <a:ea typeface="Open Sauce"/>
                <a:cs typeface="Open Sauce"/>
                <a:sym typeface="Open Sauce"/>
              </a:rPr>
              <a:t>reallygreatsite.com</a:t>
            </a:r>
          </a:p>
        </p:txBody>
      </p:sp>
      <p:sp>
        <p:nvSpPr>
          <p:cNvPr id="12" name="Freeform 12"/>
          <p:cNvSpPr/>
          <p:nvPr/>
        </p:nvSpPr>
        <p:spPr>
          <a:xfrm flipH="1">
            <a:off x="16741803" y="4964258"/>
            <a:ext cx="517497" cy="358484"/>
          </a:xfrm>
          <a:custGeom>
            <a:avLst/>
            <a:gdLst/>
            <a:ahLst/>
            <a:cxnLst/>
            <a:rect l="l" t="t" r="r" b="b"/>
            <a:pathLst>
              <a:path w="517497" h="358484">
                <a:moveTo>
                  <a:pt x="517497" y="0"/>
                </a:moveTo>
                <a:lnTo>
                  <a:pt x="0" y="0"/>
                </a:lnTo>
                <a:lnTo>
                  <a:pt x="0" y="358484"/>
                </a:lnTo>
                <a:lnTo>
                  <a:pt x="517497" y="358484"/>
                </a:lnTo>
                <a:lnTo>
                  <a:pt x="517497" y="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472</Words>
  <Application>Microsoft Office PowerPoint</Application>
  <PresentationFormat>Custom</PresentationFormat>
  <Paragraphs>119</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Open Sauce</vt:lpstr>
      <vt:lpstr>Open Sauce Bold</vt:lpstr>
      <vt:lpstr>RQND Pro UltraWide</vt:lpstr>
      <vt:lpstr>Times New Roman</vt:lpstr>
      <vt:lpstr>Times New Roman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Nhu cầu thực tế Truyền và chia sẻ file qua mạng rất phổ biến. Upload nhiều file là nhu cầu thường gặp. Vấn đề Upload tuần tự gây mất thời gian. Khó theo dõi trạng thái từng file. Giải pháp Xây dựng ứng dụng GUI cho phép kéo-thả và upload nhiều file, đồng</dc:title>
  <dc:creator>DELL</dc:creator>
  <cp:lastModifiedBy>DELL</cp:lastModifiedBy>
  <cp:revision>3</cp:revision>
  <dcterms:created xsi:type="dcterms:W3CDTF">2006-08-16T00:00:00Z</dcterms:created>
  <dcterms:modified xsi:type="dcterms:W3CDTF">2026-09-13T14:44:27Z</dcterms:modified>
  <dc:identifier>DAHUs_OUnyM</dc:identifier>
</cp:coreProperties>
</file>